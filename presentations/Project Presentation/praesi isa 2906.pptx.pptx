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53600" cy="7315200"/>
  <p:notesSz cx="6858000" cy="9144000"/>
  <p:embeddedFontLst>
    <p:embeddedFont>
      <p:font typeface="Calibri (MS)" panose="020F0502020204030204" pitchFamily="34" charset="0"/>
      <p:regular r:id="rId12"/>
    </p:embeddedFont>
    <p:embeddedFont>
      <p:font typeface="Calibri (MS) Bold" panose="020F0702030404030204" pitchFamily="34" charset="0"/>
      <p:regular r:id="rId13"/>
      <p:bold r:id="rId14"/>
    </p:embeddedFont>
    <p:embeddedFont>
      <p:font typeface="Calibri (MS) Italics" panose="020F05020202040A0204" pitchFamily="34" charset="0"/>
      <p:regular r:id="rId15"/>
      <p:italic r:id="rId16"/>
    </p:embeddedFont>
    <p:embeddedFont>
      <p:font typeface="Calibri (MS) Light" panose="020F0302020204030204" pitchFamily="34" charset="0"/>
      <p:regular r:id="rId17"/>
    </p:embeddedFont>
    <p:embeddedFont>
      <p:font typeface="Garet" pitchFamily="2" charset="77"/>
      <p:regular r:id="rId18"/>
    </p:embeddedFont>
    <p:embeddedFont>
      <p:font typeface="Garet Bold" pitchFamily="2" charset="7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64" autoAdjust="0"/>
  </p:normalViewPr>
  <p:slideViewPr>
    <p:cSldViewPr>
      <p:cViewPr varScale="1">
        <p:scale>
          <a:sx n="100" d="100"/>
          <a:sy n="100" d="100"/>
        </p:scale>
        <p:origin x="167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957" y="2562225"/>
            <a:ext cx="8407737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438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an Agile Development Project automate 30-40 mins of manual controlling operations?</a:t>
            </a:r>
          </a:p>
        </p:txBody>
      </p:sp>
      <p:sp>
        <p:nvSpPr>
          <p:cNvPr id="3" name="Freeform 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785" y="2026994"/>
            <a:ext cx="9172315" cy="1286101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59"/>
                </a:lnSpc>
              </a:pPr>
              <a:r>
                <a:rPr lang="en-US" sz="4466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Report Documentation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1988" y="3458210"/>
            <a:ext cx="674962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SoSe 2026, 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Systems Architecture,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Dominik Dietrich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24138" y="5197524"/>
            <a:ext cx="4305324" cy="1205211"/>
            <a:chOff x="0" y="0"/>
            <a:chExt cx="1133912" cy="317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912" cy="317422"/>
            </a:xfrm>
            <a:custGeom>
              <a:avLst/>
              <a:gdLst/>
              <a:ahLst/>
              <a:cxnLst/>
              <a:rect l="l" t="t" r="r" b="b"/>
              <a:pathLst>
                <a:path w="1133912" h="317422">
                  <a:moveTo>
                    <a:pt x="102499" y="0"/>
                  </a:moveTo>
                  <a:lnTo>
                    <a:pt x="1031414" y="0"/>
                  </a:lnTo>
                  <a:cubicBezTo>
                    <a:pt x="1058598" y="0"/>
                    <a:pt x="1084669" y="10799"/>
                    <a:pt x="1103891" y="30021"/>
                  </a:cubicBezTo>
                  <a:cubicBezTo>
                    <a:pt x="1123113" y="49243"/>
                    <a:pt x="1133912" y="75314"/>
                    <a:pt x="1133912" y="102499"/>
                  </a:cubicBezTo>
                  <a:lnTo>
                    <a:pt x="1133912" y="214923"/>
                  </a:lnTo>
                  <a:cubicBezTo>
                    <a:pt x="1133912" y="242108"/>
                    <a:pt x="1123113" y="268178"/>
                    <a:pt x="1103891" y="287401"/>
                  </a:cubicBezTo>
                  <a:cubicBezTo>
                    <a:pt x="1084669" y="306623"/>
                    <a:pt x="1058598" y="317422"/>
                    <a:pt x="1031414" y="317422"/>
                  </a:cubicBezTo>
                  <a:lnTo>
                    <a:pt x="102499" y="317422"/>
                  </a:lnTo>
                  <a:cubicBezTo>
                    <a:pt x="75314" y="317422"/>
                    <a:pt x="49243" y="306623"/>
                    <a:pt x="30021" y="287401"/>
                  </a:cubicBezTo>
                  <a:cubicBezTo>
                    <a:pt x="10799" y="268178"/>
                    <a:pt x="0" y="242108"/>
                    <a:pt x="0" y="214923"/>
                  </a:cubicBezTo>
                  <a:lnTo>
                    <a:pt x="0" y="102499"/>
                  </a:lnTo>
                  <a:cubicBezTo>
                    <a:pt x="0" y="75314"/>
                    <a:pt x="10799" y="49243"/>
                    <a:pt x="30021" y="30021"/>
                  </a:cubicBezTo>
                  <a:cubicBezTo>
                    <a:pt x="49243" y="10799"/>
                    <a:pt x="75314" y="0"/>
                    <a:pt x="102499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3912" cy="355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4138" y="5271653"/>
            <a:ext cx="4305324" cy="107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Altay Hennig (1483613), Christina Malki (1574803), </a:t>
            </a:r>
          </a:p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Sarah Bullinger (1577846)</a:t>
            </a:r>
          </a:p>
        </p:txBody>
      </p:sp>
      <p:sp>
        <p:nvSpPr>
          <p:cNvPr id="10" name="Freeform 10"/>
          <p:cNvSpPr/>
          <p:nvPr/>
        </p:nvSpPr>
        <p:spPr>
          <a:xfrm rot="-4628467" flipV="1">
            <a:off x="-97268" y="-517003"/>
            <a:ext cx="3198511" cy="3198511"/>
          </a:xfrm>
          <a:custGeom>
            <a:avLst/>
            <a:gdLst/>
            <a:ahLst/>
            <a:cxnLst/>
            <a:rect l="l" t="t" r="r" b="b"/>
            <a:pathLst>
              <a:path w="3198511" h="3198511">
                <a:moveTo>
                  <a:pt x="0" y="3198512"/>
                </a:moveTo>
                <a:lnTo>
                  <a:pt x="3198511" y="3198512"/>
                </a:lnTo>
                <a:lnTo>
                  <a:pt x="3198511" y="0"/>
                </a:lnTo>
                <a:lnTo>
                  <a:pt x="0" y="0"/>
                </a:lnTo>
                <a:lnTo>
                  <a:pt x="0" y="31985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5073096" flipV="1">
            <a:off x="-199246" y="-480141"/>
            <a:ext cx="2877180" cy="2877180"/>
          </a:xfrm>
          <a:custGeom>
            <a:avLst/>
            <a:gdLst/>
            <a:ahLst/>
            <a:cxnLst/>
            <a:rect l="l" t="t" r="r" b="b"/>
            <a:pathLst>
              <a:path w="2877180" h="2877180">
                <a:moveTo>
                  <a:pt x="0" y="2877180"/>
                </a:moveTo>
                <a:lnTo>
                  <a:pt x="2877180" y="2877180"/>
                </a:lnTo>
                <a:lnTo>
                  <a:pt x="2877180" y="0"/>
                </a:lnTo>
                <a:lnTo>
                  <a:pt x="0" y="0"/>
                </a:lnTo>
                <a:lnTo>
                  <a:pt x="0" y="287718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761689" flipV="1">
            <a:off x="6650053" y="4211470"/>
            <a:ext cx="3506881" cy="3506881"/>
          </a:xfrm>
          <a:custGeom>
            <a:avLst/>
            <a:gdLst/>
            <a:ahLst/>
            <a:cxnLst/>
            <a:rect l="l" t="t" r="r" b="b"/>
            <a:pathLst>
              <a:path w="3506881" h="3506881">
                <a:moveTo>
                  <a:pt x="0" y="3506882"/>
                </a:moveTo>
                <a:lnTo>
                  <a:pt x="3506882" y="3506882"/>
                </a:lnTo>
                <a:lnTo>
                  <a:pt x="3506882" y="0"/>
                </a:lnTo>
                <a:lnTo>
                  <a:pt x="0" y="0"/>
                </a:lnTo>
                <a:lnTo>
                  <a:pt x="0" y="350688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6211909" flipV="1">
            <a:off x="6784390" y="4723950"/>
            <a:ext cx="3238208" cy="3238208"/>
          </a:xfrm>
          <a:custGeom>
            <a:avLst/>
            <a:gdLst/>
            <a:ahLst/>
            <a:cxnLst/>
            <a:rect l="l" t="t" r="r" b="b"/>
            <a:pathLst>
              <a:path w="3238208" h="3238208">
                <a:moveTo>
                  <a:pt x="0" y="3238207"/>
                </a:moveTo>
                <a:lnTo>
                  <a:pt x="3238208" y="3238207"/>
                </a:lnTo>
                <a:lnTo>
                  <a:pt x="3238208" y="0"/>
                </a:lnTo>
                <a:lnTo>
                  <a:pt x="0" y="0"/>
                </a:lnTo>
                <a:lnTo>
                  <a:pt x="0" y="32382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491516"/>
            <a:ext cx="8791785" cy="1232745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22379" cy="17389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58811" y="3471272"/>
            <a:ext cx="162973" cy="325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9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0352" y="1543286"/>
            <a:ext cx="9629548" cy="650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1"/>
              </a:lnSpc>
            </a:pPr>
            <a:r>
              <a:rPr lang="en-US" sz="327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Current Process — </a:t>
            </a:r>
            <a:r>
              <a:rPr lang="en-US" sz="3276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manual labor</a:t>
            </a: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r>
              <a:rPr lang="en-US" sz="327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Goal Process — </a:t>
            </a:r>
            <a:r>
              <a:rPr lang="en-US" sz="3276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Rule Violation: Yes/No</a:t>
            </a: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r>
              <a:rPr lang="en-US" sz="327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Governance — </a:t>
            </a:r>
            <a:r>
              <a:rPr lang="en-US" sz="3276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Risk Management and Compliance</a:t>
            </a: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r>
              <a:rPr lang="en-US" sz="327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Conclusion — </a:t>
            </a:r>
            <a:r>
              <a:rPr lang="en-US" sz="3276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feasability report</a:t>
            </a: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5111"/>
              </a:lnSpc>
            </a:pPr>
            <a:endParaRPr lang="en-US" sz="3276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7" name="Freeform 7"/>
          <p:cNvSpPr/>
          <p:nvPr/>
        </p:nvSpPr>
        <p:spPr>
          <a:xfrm rot="-574333">
            <a:off x="-531559" y="350983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AutoShape 10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2" name="Freeform 12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9169" y="1574862"/>
            <a:ext cx="8042911" cy="353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Mail with reports→ ZIP-file → XML extraction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Spreadsheet import + threshold checks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Secure evidence + distribution mail with evidence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Sign-Off</a:t>
            </a:r>
          </a:p>
        </p:txBody>
      </p:sp>
      <p:sp>
        <p:nvSpPr>
          <p:cNvPr id="3" name="Freeform 3"/>
          <p:cNvSpPr/>
          <p:nvPr/>
        </p:nvSpPr>
        <p:spPr>
          <a:xfrm>
            <a:off x="7839992" y="286179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6271133" y="4053643"/>
            <a:ext cx="2611317" cy="2611317"/>
          </a:xfrm>
          <a:custGeom>
            <a:avLst/>
            <a:gdLst/>
            <a:ahLst/>
            <a:cxnLst/>
            <a:rect l="l" t="t" r="r" b="b"/>
            <a:pathLst>
              <a:path w="2611317" h="2611317">
                <a:moveTo>
                  <a:pt x="0" y="0"/>
                </a:moveTo>
                <a:lnTo>
                  <a:pt x="2611317" y="0"/>
                </a:lnTo>
                <a:lnTo>
                  <a:pt x="2611317" y="2611317"/>
                </a:lnTo>
                <a:lnTo>
                  <a:pt x="0" y="2611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649717" y="-2007004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8"/>
                </a:lnTo>
                <a:lnTo>
                  <a:pt x="0" y="561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31520" y="95595"/>
            <a:ext cx="7727211" cy="1083478"/>
            <a:chOff x="0" y="0"/>
            <a:chExt cx="11722379" cy="16436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1722379" cy="1719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5"/>
                </a:lnSpc>
              </a:pPr>
              <a:r>
                <a:rPr lang="en-US" sz="35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Current Process </a:t>
              </a:r>
              <a:r>
                <a:rPr lang="en-US" sz="3513">
                  <a:solidFill>
                    <a:srgbClr val="3F3D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labor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268077"/>
            <a:ext cx="68852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2.1 BPMN GOAL— Rule Violation: YES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5396" y="304124"/>
            <a:ext cx="682153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2.2 BPMN GOAL— Rule Violation: NO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2860" y="1527592"/>
            <a:ext cx="433283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903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Ingest → validate → archive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754" y="222667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2.3 The Cost of Labor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2860" y="1965742"/>
            <a:ext cx="326154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697" i="1" dirty="0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Automated Labor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11" y="3388491"/>
            <a:ext cx="7507243" cy="237729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80890" y="5102081"/>
            <a:ext cx="599481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7"/>
              </a:lnSpc>
              <a:spcBef>
                <a:spcPct val="0"/>
              </a:spcBef>
            </a:pPr>
            <a:r>
              <a:rPr lang="en-US" sz="1897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AGILE development Project vs expected hourly rates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2406" y="4262106"/>
            <a:ext cx="39132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3280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Break Even after 1 year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87515" y="3545690"/>
            <a:ext cx="5994819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687515" y="2884588"/>
            <a:ext cx="502518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 Up valuable work time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286179"/>
            <a:ext cx="8791785" cy="1350044"/>
            <a:chOff x="0" y="0"/>
            <a:chExt cx="11722379" cy="1800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800063"/>
            </a:xfrm>
            <a:custGeom>
              <a:avLst/>
              <a:gdLst/>
              <a:ahLst/>
              <a:cxnLst/>
              <a:rect l="l" t="t" r="r" b="b"/>
              <a:pathLst>
                <a:path w="11722382" h="1800063">
                  <a:moveTo>
                    <a:pt x="0" y="0"/>
                  </a:moveTo>
                  <a:lnTo>
                    <a:pt x="11722382" y="0"/>
                  </a:lnTo>
                  <a:lnTo>
                    <a:pt x="11722382" y="1800063"/>
                  </a:lnTo>
                  <a:lnTo>
                    <a:pt x="0" y="18000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34" b="-72546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876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75"/>
                </a:lnSpc>
              </a:pPr>
              <a:r>
                <a:rPr lang="en-US" sz="38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Governance</a:t>
              </a:r>
            </a:p>
            <a:p>
              <a:pPr algn="ctr">
                <a:lnSpc>
                  <a:spcPts val="4575"/>
                </a:lnSpc>
              </a:pPr>
              <a:r>
                <a:rPr lang="en-US" sz="3813">
                  <a:solidFill>
                    <a:srgbClr val="3F3D3E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Risk Management and Compliance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1480" y="5162298"/>
            <a:ext cx="8439966" cy="59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Leaving the happy path → not regarded in this project</a:t>
            </a:r>
          </a:p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needs to Exit consistently to prevent Archive gaps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290" y="3193149"/>
            <a:ext cx="85411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3413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Chance: Cleaner Compliance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8207" y="4570185"/>
            <a:ext cx="8394486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95"/>
              </a:lnSpc>
              <a:spcBef>
                <a:spcPct val="0"/>
              </a:spcBef>
            </a:pPr>
            <a:r>
              <a:rPr lang="en-US" sz="3413" b="1" dirty="0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Risk: Alerts and Exception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480" y="3761836"/>
            <a:ext cx="870034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File convention friction = highest automation leverage - Better audibility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290" y="1899387"/>
            <a:ext cx="76241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3243" b="1" u="none" strike="noStrike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Rule: Operator is responsible </a:t>
            </a:r>
          </a:p>
          <a:p>
            <a:pPr marL="0" lvl="0" indent="0" algn="l">
              <a:lnSpc>
                <a:spcPts val="3892"/>
              </a:lnSpc>
              <a:spcBef>
                <a:spcPct val="0"/>
              </a:spcBef>
            </a:pPr>
            <a:endParaRPr lang="en-US" sz="3243" b="1" u="none" strike="noStrike">
              <a:solidFill>
                <a:srgbClr val="3F3D3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1480" y="2417680"/>
            <a:ext cx="621431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0" lvl="1" indent="-123545" algn="l">
              <a:lnSpc>
                <a:spcPts val="2304"/>
              </a:lnSpc>
              <a:spcBef>
                <a:spcPct val="0"/>
              </a:spcBef>
              <a:buFont typeface="Arial"/>
              <a:buChar char="•"/>
            </a:pPr>
            <a:r>
              <a:rPr lang="en-US" sz="1920" u="none" strike="noStrike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 Process Remaining → sign-off not system-enforced 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AutoShape 1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2367" y="506308"/>
            <a:ext cx="8791785" cy="123274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4199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39701" y="1691430"/>
            <a:ext cx="8713899" cy="498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281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an Agile Development Project automate 30-40 mins of manual controlling operations?</a:t>
            </a:r>
          </a:p>
          <a:p>
            <a:pPr algn="l">
              <a:lnSpc>
                <a:spcPts val="2304"/>
              </a:lnSpc>
            </a:pPr>
            <a:endParaRPr lang="en-US" sz="281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Yes—Cooperation with all departments in SCOPE </a:t>
            </a:r>
          </a:p>
          <a:p>
            <a:pPr algn="l">
              <a:lnSpc>
                <a:spcPts val="2783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— Critical Step remains manual (Sign-off)</a:t>
            </a:r>
          </a:p>
          <a:p>
            <a:pPr algn="l">
              <a:lnSpc>
                <a:spcPts val="2783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— production LLM gateway</a:t>
            </a:r>
          </a:p>
          <a:p>
            <a:pPr algn="l">
              <a:lnSpc>
                <a:spcPts val="2783"/>
              </a:lnSpc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DMS access</a:t>
            </a:r>
          </a:p>
          <a:p>
            <a:pPr algn="l">
              <a:lnSpc>
                <a:spcPts val="2783"/>
              </a:lnSpc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sandbox account (see compliance docs)</a:t>
            </a:r>
          </a:p>
          <a:p>
            <a:pPr algn="l">
              <a:lnSpc>
                <a:spcPts val="2304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03"/>
              </a:lnSpc>
            </a:pPr>
            <a:r>
              <a:rPr lang="en-US" sz="241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Success</a:t>
            </a:r>
            <a:r>
              <a:rPr lang="en-US" sz="24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operable BPMN, invoice,XML generation, chart automation (OpenAPI integration mocks)</a:t>
            </a:r>
          </a:p>
          <a:p>
            <a:pPr algn="l">
              <a:lnSpc>
                <a:spcPts val="2304"/>
              </a:lnSpc>
            </a:pPr>
            <a:endParaRPr lang="en-US" sz="24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574333">
            <a:off x="-753323" y="389299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1929" y="2812139"/>
            <a:ext cx="4436573" cy="3588515"/>
          </a:xfrm>
          <a:custGeom>
            <a:avLst/>
            <a:gdLst/>
            <a:ahLst/>
            <a:cxnLst/>
            <a:rect l="l" t="t" r="r" b="b"/>
            <a:pathLst>
              <a:path w="4436573" h="3588515">
                <a:moveTo>
                  <a:pt x="0" y="0"/>
                </a:moveTo>
                <a:lnTo>
                  <a:pt x="4436573" y="0"/>
                </a:lnTo>
                <a:lnTo>
                  <a:pt x="4436573" y="3588515"/>
                </a:lnTo>
                <a:lnTo>
                  <a:pt x="0" y="358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59" b="-2037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1959873" y="1490378"/>
            <a:ext cx="710341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7"/>
              </a:lnSpc>
              <a:spcBef>
                <a:spcPct val="0"/>
              </a:spcBef>
            </a:pPr>
            <a:r>
              <a:rPr lang="en-US" sz="5714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for listening!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8" name="Freeform 8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PresentationFormat>Benutzerdefiniert</PresentationFormat>
  <Paragraphs>60</Paragraphs>
  <Slides>10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9" baseType="lpstr">
      <vt:lpstr>Arial</vt:lpstr>
      <vt:lpstr>Calibri (MS) Bold</vt:lpstr>
      <vt:lpstr>Calibri</vt:lpstr>
      <vt:lpstr>Calibri (MS) Italics</vt:lpstr>
      <vt:lpstr>Garet Bold</vt:lpstr>
      <vt:lpstr>Garet</vt:lpstr>
      <vt:lpstr>Calibri (MS)</vt:lpstr>
      <vt:lpstr>Calibri (MS)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praesi isa 2906.pptx</dc:title>
  <cp:lastModifiedBy>Altay Hennig</cp:lastModifiedBy>
  <cp:revision>2</cp:revision>
  <dcterms:created xsi:type="dcterms:W3CDTF">2006-08-16T00:00:00Z</dcterms:created>
  <dcterms:modified xsi:type="dcterms:W3CDTF">2026-06-29T08:52:58Z</dcterms:modified>
  <dc:identifier>DAHLLGS3Grw</dc:identifier>
</cp:coreProperties>
</file>