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753600" cy="7315200"/>
  <p:notesSz cx="6858000" cy="9144000"/>
  <p:embeddedFontLst>
    <p:embeddedFont>
      <p:font typeface="Calibri (MS) Bold" charset="1" panose="020F0702030404030204"/>
      <p:regular r:id="rId16"/>
    </p:embeddedFont>
    <p:embeddedFont>
      <p:font typeface="Calibri (MS)" charset="1" panose="020F0502020204030204"/>
      <p:regular r:id="rId17"/>
    </p:embeddedFont>
    <p:embeddedFont>
      <p:font typeface="Garet" charset="1" panose="00000000000000000000"/>
      <p:regular r:id="rId18"/>
    </p:embeddedFont>
    <p:embeddedFont>
      <p:font typeface="Calibri (MS) Italics" charset="1" panose="020F05020202040A0204"/>
      <p:regular r:id="rId19"/>
    </p:embeddedFont>
    <p:embeddedFont>
      <p:font typeface="Garet Bold" charset="1" panose="00000000000000000000"/>
      <p:regular r:id="rId20"/>
    </p:embeddedFont>
    <p:embeddedFont>
      <p:font typeface="Calibri (MS) Light" charset="1" panose="020F030202020403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3.png" Type="http://schemas.openxmlformats.org/officeDocument/2006/relationships/image"/><Relationship Id="rId8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2.pn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Relationship Id="rId9" Target="../media/image7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3.jpeg" Type="http://schemas.openxmlformats.org/officeDocument/2006/relationships/image"/><Relationship Id="rId7" Target="../media/VAHN4cDP7B8.mp4" Type="http://schemas.openxmlformats.org/officeDocument/2006/relationships/video"/><Relationship Id="rId8" Target="../media/VAHN4cDP7B8.mp4" Type="http://schemas.microsoft.com/office/2007/relationships/media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3.jpeg" Type="http://schemas.openxmlformats.org/officeDocument/2006/relationships/image"/><Relationship Id="rId7" Target="../media/VAHN4S_4RsM.mp4" Type="http://schemas.openxmlformats.org/officeDocument/2006/relationships/video"/><Relationship Id="rId8" Target="../media/VAHN4S_4RsM.mp4" Type="http://schemas.microsoft.com/office/2007/relationships/media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Relationship Id="rId7" Target="../media/image3.png" Type="http://schemas.openxmlformats.org/officeDocument/2006/relationships/image"/><Relationship Id="rId8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06957" y="2562225"/>
            <a:ext cx="8407737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63"/>
              </a:lnSpc>
            </a:pPr>
            <a:r>
              <a:rPr lang="en-US" sz="4386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Can an Agile Development Project automate 30-40 mins of manual controlling operations</a:t>
            </a:r>
            <a:r>
              <a:rPr lang="en-US" b="true" sz="438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?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1785" y="2026994"/>
            <a:ext cx="9172315" cy="1286101"/>
            <a:chOff x="0" y="0"/>
            <a:chExt cx="11722379" cy="1643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4"/>
            </a:xfrm>
            <a:custGeom>
              <a:avLst/>
              <a:gdLst/>
              <a:ahLst/>
              <a:cxnLst/>
              <a:rect r="r" b="b" t="t" l="l"/>
              <a:pathLst>
                <a:path h="1643664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4"/>
                  </a:lnTo>
                  <a:lnTo>
                    <a:pt x="0" y="1643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1722379" cy="1729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59"/>
                </a:lnSpc>
              </a:pPr>
              <a:r>
                <a:rPr lang="en-US" sz="4466" b="true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Automatic Report Documentation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501988" y="3458210"/>
            <a:ext cx="6749625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SoSe 2026, </a:t>
            </a:r>
          </a:p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Information Systems Architecture,</a:t>
            </a:r>
          </a:p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Dominik Dietrich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724138" y="5197524"/>
            <a:ext cx="4305324" cy="1205211"/>
            <a:chOff x="0" y="0"/>
            <a:chExt cx="1133912" cy="317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33912" cy="317422"/>
            </a:xfrm>
            <a:custGeom>
              <a:avLst/>
              <a:gdLst/>
              <a:ahLst/>
              <a:cxnLst/>
              <a:rect r="r" b="b" t="t" l="l"/>
              <a:pathLst>
                <a:path h="317422" w="1133912">
                  <a:moveTo>
                    <a:pt x="102499" y="0"/>
                  </a:moveTo>
                  <a:lnTo>
                    <a:pt x="1031414" y="0"/>
                  </a:lnTo>
                  <a:cubicBezTo>
                    <a:pt x="1058598" y="0"/>
                    <a:pt x="1084669" y="10799"/>
                    <a:pt x="1103891" y="30021"/>
                  </a:cubicBezTo>
                  <a:cubicBezTo>
                    <a:pt x="1123113" y="49243"/>
                    <a:pt x="1133912" y="75314"/>
                    <a:pt x="1133912" y="102499"/>
                  </a:cubicBezTo>
                  <a:lnTo>
                    <a:pt x="1133912" y="214923"/>
                  </a:lnTo>
                  <a:cubicBezTo>
                    <a:pt x="1133912" y="242108"/>
                    <a:pt x="1123113" y="268178"/>
                    <a:pt x="1103891" y="287401"/>
                  </a:cubicBezTo>
                  <a:cubicBezTo>
                    <a:pt x="1084669" y="306623"/>
                    <a:pt x="1058598" y="317422"/>
                    <a:pt x="1031414" y="317422"/>
                  </a:cubicBezTo>
                  <a:lnTo>
                    <a:pt x="102499" y="317422"/>
                  </a:lnTo>
                  <a:cubicBezTo>
                    <a:pt x="75314" y="317422"/>
                    <a:pt x="49243" y="306623"/>
                    <a:pt x="30021" y="287401"/>
                  </a:cubicBezTo>
                  <a:cubicBezTo>
                    <a:pt x="10799" y="268178"/>
                    <a:pt x="0" y="242108"/>
                    <a:pt x="0" y="214923"/>
                  </a:cubicBezTo>
                  <a:lnTo>
                    <a:pt x="0" y="102499"/>
                  </a:lnTo>
                  <a:cubicBezTo>
                    <a:pt x="0" y="75314"/>
                    <a:pt x="10799" y="49243"/>
                    <a:pt x="30021" y="30021"/>
                  </a:cubicBezTo>
                  <a:cubicBezTo>
                    <a:pt x="49243" y="10799"/>
                    <a:pt x="75314" y="0"/>
                    <a:pt x="102499" y="0"/>
                  </a:cubicBezTo>
                  <a:close/>
                </a:path>
              </a:pathLst>
            </a:custGeom>
            <a:solidFill>
              <a:srgbClr val="545454"/>
            </a:solidFill>
            <a:ln w="38100" cap="rnd">
              <a:solidFill>
                <a:srgbClr val="545454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33912" cy="355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7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724138" y="5271653"/>
            <a:ext cx="4305324" cy="107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068">
                <a:solidFill>
                  <a:srgbClr val="E9E9E9"/>
                </a:solidFill>
                <a:latin typeface="Garet"/>
                <a:ea typeface="Garet"/>
                <a:cs typeface="Garet"/>
                <a:sym typeface="Garet"/>
              </a:rPr>
              <a:t>Altay Hennig (1483613), Christina Malki (1574803), </a:t>
            </a:r>
          </a:p>
          <a:p>
            <a:pPr algn="ctr">
              <a:lnSpc>
                <a:spcPts val="2896"/>
              </a:lnSpc>
              <a:spcBef>
                <a:spcPct val="0"/>
              </a:spcBef>
            </a:pPr>
            <a:r>
              <a:rPr lang="en-US" sz="2068">
                <a:solidFill>
                  <a:srgbClr val="E9E9E9"/>
                </a:solidFill>
                <a:latin typeface="Garet"/>
                <a:ea typeface="Garet"/>
                <a:cs typeface="Garet"/>
                <a:sym typeface="Garet"/>
              </a:rPr>
              <a:t>Sarah Bullinger (1577846)</a:t>
            </a:r>
          </a:p>
        </p:txBody>
      </p:sp>
      <p:sp>
        <p:nvSpPr>
          <p:cNvPr name="Freeform 10" id="10"/>
          <p:cNvSpPr/>
          <p:nvPr/>
        </p:nvSpPr>
        <p:spPr>
          <a:xfrm flipH="false" flipV="true" rot="-4628467">
            <a:off x="-97268" y="-517003"/>
            <a:ext cx="3198511" cy="3198511"/>
          </a:xfrm>
          <a:custGeom>
            <a:avLst/>
            <a:gdLst/>
            <a:ahLst/>
            <a:cxnLst/>
            <a:rect r="r" b="b" t="t" l="l"/>
            <a:pathLst>
              <a:path h="3198511" w="3198511">
                <a:moveTo>
                  <a:pt x="0" y="3198512"/>
                </a:moveTo>
                <a:lnTo>
                  <a:pt x="3198511" y="3198512"/>
                </a:lnTo>
                <a:lnTo>
                  <a:pt x="3198511" y="0"/>
                </a:lnTo>
                <a:lnTo>
                  <a:pt x="0" y="0"/>
                </a:lnTo>
                <a:lnTo>
                  <a:pt x="0" y="3198512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-5073096">
            <a:off x="-199246" y="-480141"/>
            <a:ext cx="2877180" cy="2877180"/>
          </a:xfrm>
          <a:custGeom>
            <a:avLst/>
            <a:gdLst/>
            <a:ahLst/>
            <a:cxnLst/>
            <a:rect r="r" b="b" t="t" l="l"/>
            <a:pathLst>
              <a:path h="2877180" w="2877180">
                <a:moveTo>
                  <a:pt x="0" y="2877180"/>
                </a:moveTo>
                <a:lnTo>
                  <a:pt x="2877180" y="2877180"/>
                </a:lnTo>
                <a:lnTo>
                  <a:pt x="2877180" y="0"/>
                </a:lnTo>
                <a:lnTo>
                  <a:pt x="0" y="0"/>
                </a:lnTo>
                <a:lnTo>
                  <a:pt x="0" y="287718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true" rot="5761689">
            <a:off x="6650053" y="4211470"/>
            <a:ext cx="3506881" cy="3506881"/>
          </a:xfrm>
          <a:custGeom>
            <a:avLst/>
            <a:gdLst/>
            <a:ahLst/>
            <a:cxnLst/>
            <a:rect r="r" b="b" t="t" l="l"/>
            <a:pathLst>
              <a:path h="3506881" w="3506881">
                <a:moveTo>
                  <a:pt x="0" y="3506882"/>
                </a:moveTo>
                <a:lnTo>
                  <a:pt x="3506882" y="3506882"/>
                </a:lnTo>
                <a:lnTo>
                  <a:pt x="3506882" y="0"/>
                </a:lnTo>
                <a:lnTo>
                  <a:pt x="0" y="0"/>
                </a:lnTo>
                <a:lnTo>
                  <a:pt x="0" y="3506882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true" rot="6211909">
            <a:off x="6784390" y="4723950"/>
            <a:ext cx="3238208" cy="3238208"/>
          </a:xfrm>
          <a:custGeom>
            <a:avLst/>
            <a:gdLst/>
            <a:ahLst/>
            <a:cxnLst/>
            <a:rect r="r" b="b" t="t" l="l"/>
            <a:pathLst>
              <a:path h="3238208" w="3238208">
                <a:moveTo>
                  <a:pt x="0" y="3238207"/>
                </a:moveTo>
                <a:lnTo>
                  <a:pt x="3238208" y="3238207"/>
                </a:lnTo>
                <a:lnTo>
                  <a:pt x="3238208" y="0"/>
                </a:lnTo>
                <a:lnTo>
                  <a:pt x="0" y="0"/>
                </a:lnTo>
                <a:lnTo>
                  <a:pt x="0" y="3238207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0908" y="491516"/>
            <a:ext cx="8791785" cy="1232745"/>
            <a:chOff x="0" y="0"/>
            <a:chExt cx="11722379" cy="1643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4"/>
            </a:xfrm>
            <a:custGeom>
              <a:avLst/>
              <a:gdLst/>
              <a:ahLst/>
              <a:cxnLst/>
              <a:rect r="r" b="b" t="t" l="l"/>
              <a:pathLst>
                <a:path h="1643664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4"/>
                  </a:lnTo>
                  <a:lnTo>
                    <a:pt x="0" y="1643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1722379" cy="17389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631"/>
                </a:lnSpc>
              </a:pPr>
              <a:r>
                <a:rPr lang="en-US" b="true" sz="469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Structure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658811" y="3471272"/>
            <a:ext cx="162973" cy="325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04"/>
              </a:lnSpc>
            </a:pPr>
            <a:r>
              <a:rPr lang="en-US" sz="192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-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00352" y="1543286"/>
            <a:ext cx="9629548" cy="6508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11"/>
              </a:lnSpc>
            </a:pPr>
            <a:r>
              <a:rPr lang="en-US" b="true" sz="327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Current Process — </a:t>
            </a:r>
            <a:r>
              <a:rPr lang="en-US" sz="3276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manual labor</a:t>
            </a:r>
          </a:p>
          <a:p>
            <a:pPr algn="l">
              <a:lnSpc>
                <a:spcPts val="5111"/>
              </a:lnSpc>
            </a:pPr>
          </a:p>
          <a:p>
            <a:pPr algn="l">
              <a:lnSpc>
                <a:spcPts val="5111"/>
              </a:lnSpc>
            </a:pPr>
            <a:r>
              <a:rPr lang="en-US" b="true" sz="327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Goal Process — </a:t>
            </a:r>
            <a:r>
              <a:rPr lang="en-US" sz="3276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Rule Violation: Yes/No</a:t>
            </a:r>
          </a:p>
          <a:p>
            <a:pPr algn="l">
              <a:lnSpc>
                <a:spcPts val="5111"/>
              </a:lnSpc>
            </a:pPr>
          </a:p>
          <a:p>
            <a:pPr algn="l">
              <a:lnSpc>
                <a:spcPts val="5111"/>
              </a:lnSpc>
            </a:pPr>
            <a:r>
              <a:rPr lang="en-US" b="true" sz="327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  <a:r>
              <a:rPr lang="en-US" b="true" sz="327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Governance — </a:t>
            </a:r>
            <a:r>
              <a:rPr lang="en-US" sz="3276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Risk Management and Compliance</a:t>
            </a:r>
          </a:p>
          <a:p>
            <a:pPr algn="l">
              <a:lnSpc>
                <a:spcPts val="5111"/>
              </a:lnSpc>
            </a:pPr>
          </a:p>
          <a:p>
            <a:pPr algn="l">
              <a:lnSpc>
                <a:spcPts val="5111"/>
              </a:lnSpc>
            </a:pPr>
            <a:r>
              <a:rPr lang="en-US" b="true" sz="327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4. Conclusion — </a:t>
            </a:r>
            <a:r>
              <a:rPr lang="en-US" sz="3276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feasability report</a:t>
            </a:r>
          </a:p>
          <a:p>
            <a:pPr algn="l">
              <a:lnSpc>
                <a:spcPts val="5111"/>
              </a:lnSpc>
            </a:pPr>
          </a:p>
          <a:p>
            <a:pPr algn="l">
              <a:lnSpc>
                <a:spcPts val="5111"/>
              </a:lnSpc>
            </a:pPr>
          </a:p>
          <a:p>
            <a:pPr algn="l">
              <a:lnSpc>
                <a:spcPts val="5111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-574333">
            <a:off x="-531559" y="3509834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>
            <a:off x="0" y="3979"/>
            <a:ext cx="9753600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0" y="3979"/>
            <a:ext cx="9753600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01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79169" y="1574862"/>
            <a:ext cx="8042911" cy="353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1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Mail with reports→ ZIP-file → XML extraction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2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Spreadsheet import + threshold checks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3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Secure evidence + distribution mail with evidence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4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Sign-Off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7839992" y="286179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271133" y="4053643"/>
            <a:ext cx="2611317" cy="2611317"/>
          </a:xfrm>
          <a:custGeom>
            <a:avLst/>
            <a:gdLst/>
            <a:ahLst/>
            <a:cxnLst/>
            <a:rect r="r" b="b" t="t" l="l"/>
            <a:pathLst>
              <a:path h="2611317" w="2611317">
                <a:moveTo>
                  <a:pt x="0" y="0"/>
                </a:moveTo>
                <a:lnTo>
                  <a:pt x="2611317" y="0"/>
                </a:lnTo>
                <a:lnTo>
                  <a:pt x="2611317" y="2611317"/>
                </a:lnTo>
                <a:lnTo>
                  <a:pt x="0" y="26113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649717" y="-2007004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8"/>
                </a:lnTo>
                <a:lnTo>
                  <a:pt x="0" y="561950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02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31520" y="95595"/>
            <a:ext cx="7727211" cy="1083478"/>
            <a:chOff x="0" y="0"/>
            <a:chExt cx="11722379" cy="16436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722382" cy="1643668"/>
            </a:xfrm>
            <a:custGeom>
              <a:avLst/>
              <a:gdLst/>
              <a:ahLst/>
              <a:cxnLst/>
              <a:rect r="r" b="b" t="t" l="l"/>
              <a:pathLst>
                <a:path h="1643668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8"/>
                  </a:lnTo>
                  <a:lnTo>
                    <a:pt x="0" y="1643668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l="0" t="-88964" r="0" b="-8896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76200"/>
              <a:ext cx="11722379" cy="17198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215"/>
                </a:lnSpc>
              </a:pPr>
              <a:r>
                <a:rPr lang="en-US" b="true" sz="351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1. Current Process </a:t>
              </a:r>
              <a:r>
                <a:rPr lang="en-US" sz="3513">
                  <a:solidFill>
                    <a:srgbClr val="3F3D3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Manual labor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74816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2" y="0"/>
                </a:lnTo>
                <a:lnTo>
                  <a:pt x="3612672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0" y="1508630"/>
            <a:ext cx="9753600" cy="429794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8690809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1520" y="268077"/>
            <a:ext cx="688523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.1 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BPMN GOAL— Rule Violation: YES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74816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2" y="0"/>
                </a:lnTo>
                <a:lnTo>
                  <a:pt x="3612672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0" y="1508630"/>
            <a:ext cx="9753600" cy="429794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575396" y="304124"/>
            <a:ext cx="68215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.2 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BPMN GOAL— Rule Violation: NO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04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37583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3" y="0"/>
                </a:lnTo>
                <a:lnTo>
                  <a:pt x="3612673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2860" y="1527592"/>
            <a:ext cx="4332833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4"/>
              </a:lnSpc>
              <a:spcBef>
                <a:spcPct val="0"/>
              </a:spcBef>
            </a:pPr>
            <a:r>
              <a:rPr lang="en-US" b="true" sz="290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→</a:t>
            </a:r>
            <a:r>
              <a:rPr lang="en-US" b="true" sz="290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validate → archive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8754" y="222667"/>
            <a:ext cx="7090454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.3 The Cost of Labor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2860" y="1965742"/>
            <a:ext cx="2425834" cy="465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37"/>
              </a:lnSpc>
              <a:spcBef>
                <a:spcPct val="0"/>
              </a:spcBef>
            </a:pPr>
            <a:r>
              <a:rPr lang="en-US" sz="2697" i="true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Automated Labor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061911" y="3388491"/>
            <a:ext cx="7507243" cy="2377293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1780890" y="5102081"/>
            <a:ext cx="5994819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"/>
              </a:lnSpc>
              <a:spcBef>
                <a:spcPct val="0"/>
              </a:spcBef>
            </a:pPr>
            <a:r>
              <a:rPr lang="en-US" sz="1897" i="true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AGILE development Project vs expected hourly rates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82406" y="4262106"/>
            <a:ext cx="3913287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6"/>
              </a:lnSpc>
              <a:spcBef>
                <a:spcPct val="0"/>
              </a:spcBef>
            </a:pPr>
            <a:r>
              <a:rPr lang="en-US" sz="3280" i="true">
                <a:solidFill>
                  <a:srgbClr val="FFFFFF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Break Even after 1 year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687515" y="3545690"/>
            <a:ext cx="5994819" cy="0"/>
          </a:xfrm>
          <a:prstGeom prst="line">
            <a:avLst/>
          </a:prstGeom>
          <a:ln cap="flat" w="38100">
            <a:solidFill>
              <a:srgbClr val="545454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3" id="13"/>
          <p:cNvSpPr txBox="true"/>
          <p:nvPr/>
        </p:nvSpPr>
        <p:spPr>
          <a:xfrm rot="0">
            <a:off x="1687515" y="2884588"/>
            <a:ext cx="502518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1"/>
              </a:lnSpc>
              <a:spcBef>
                <a:spcPct val="0"/>
              </a:spcBef>
            </a:pPr>
            <a:r>
              <a:rPr lang="en-US" b="true" sz="345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Free Up valuable work time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0908" y="286179"/>
            <a:ext cx="8791785" cy="1350044"/>
            <a:chOff x="0" y="0"/>
            <a:chExt cx="11722379" cy="18000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800063"/>
            </a:xfrm>
            <a:custGeom>
              <a:avLst/>
              <a:gdLst/>
              <a:ahLst/>
              <a:cxnLst/>
              <a:rect r="r" b="b" t="t" l="l"/>
              <a:pathLst>
                <a:path h="1800063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800063"/>
                  </a:lnTo>
                  <a:lnTo>
                    <a:pt x="0" y="180006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1234" r="0" b="-725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76200"/>
              <a:ext cx="11722379" cy="1876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75"/>
                </a:lnSpc>
              </a:pPr>
              <a:r>
                <a:rPr lang="en-US" sz="3813" b="true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  <a:r>
                <a:rPr lang="en-US" b="true" sz="381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. Governance</a:t>
              </a:r>
            </a:p>
            <a:p>
              <a:pPr algn="ctr">
                <a:lnSpc>
                  <a:spcPts val="4575"/>
                </a:lnSpc>
              </a:pPr>
              <a:r>
                <a:rPr lang="en-US" sz="3813">
                  <a:solidFill>
                    <a:srgbClr val="3F3D3E"/>
                  </a:solidFill>
                  <a:latin typeface="Calibri (MS) Light"/>
                  <a:ea typeface="Calibri (MS) Light"/>
                  <a:cs typeface="Calibri (MS) Light"/>
                  <a:sym typeface="Calibri (MS) Light"/>
                </a:rPr>
                <a:t>Risk Management and Compliance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11480" y="5162298"/>
            <a:ext cx="8439966" cy="5924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9696" indent="-119848" lvl="1">
              <a:lnSpc>
                <a:spcPts val="2235"/>
              </a:lnSpc>
              <a:buFont typeface="Arial"/>
              <a:buChar char="•"/>
            </a:pP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Leaving</a:t>
            </a: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the happy path → not regarded in this project</a:t>
            </a:r>
          </a:p>
          <a:p>
            <a:pPr algn="l" marL="239696" indent="-119848" lvl="1">
              <a:lnSpc>
                <a:spcPts val="2235"/>
              </a:lnSpc>
              <a:buFont typeface="Arial"/>
              <a:buChar char="•"/>
            </a:pP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The System needs to Exit consistently to prevent Archive gaps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25290" y="3193149"/>
            <a:ext cx="85411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  <a:spcBef>
                <a:spcPct val="0"/>
              </a:spcBef>
            </a:pPr>
            <a:r>
              <a:rPr lang="en-US" b="true" sz="3413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Chance: Cleaner Compliance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8207" y="4570185"/>
            <a:ext cx="644262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95"/>
              </a:lnSpc>
              <a:spcBef>
                <a:spcPct val="0"/>
              </a:spcBef>
            </a:pPr>
            <a:r>
              <a:rPr lang="en-US" b="true" sz="3413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Risk: Alerts and Exception Handling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11480" y="3761836"/>
            <a:ext cx="870034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47091" indent="-123546" lvl="1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File convention friction = highest automation leverage - Better audibility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25290" y="1899387"/>
            <a:ext cx="7624175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2"/>
              </a:lnSpc>
            </a:pPr>
            <a:r>
              <a:rPr lang="en-US" b="true" sz="3243" strike="noStrike" u="non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Rule: Operator is responsible </a:t>
            </a:r>
          </a:p>
          <a:p>
            <a:pPr algn="l" marL="0" indent="0" lvl="0">
              <a:lnSpc>
                <a:spcPts val="3892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211480" y="2417680"/>
            <a:ext cx="6214318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47090" indent="-123545" lvl="1">
              <a:lnSpc>
                <a:spcPts val="2304"/>
              </a:lnSpc>
              <a:spcBef>
                <a:spcPct val="0"/>
              </a:spcBef>
              <a:buFont typeface="Arial"/>
              <a:buChar char="•"/>
            </a:pPr>
            <a:r>
              <a:rPr lang="en-US" sz="1920" strike="noStrike" u="none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Manual Process Remaining → sign-off not system-enforced 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4" id="1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8690809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06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2367" y="506308"/>
            <a:ext cx="8791785" cy="1232748"/>
            <a:chOff x="0" y="0"/>
            <a:chExt cx="11722379" cy="16436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8"/>
            </a:xfrm>
            <a:custGeom>
              <a:avLst/>
              <a:gdLst/>
              <a:ahLst/>
              <a:cxnLst/>
              <a:rect r="r" b="b" t="t" l="l"/>
              <a:pathLst>
                <a:path h="1643668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8"/>
                  </a:lnTo>
                  <a:lnTo>
                    <a:pt x="0" y="16436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1722379" cy="17293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 b="true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4. Conclusion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39701" y="1691430"/>
            <a:ext cx="8713899" cy="498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sz="281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Can an Agile Development Project automate 30-40 mins of manual controlling operations?</a:t>
            </a:r>
          </a:p>
          <a:p>
            <a:pPr algn="l">
              <a:lnSpc>
                <a:spcPts val="2304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Yes—Cooperation with all departments in SCOPE </a:t>
            </a:r>
          </a:p>
          <a:p>
            <a:pPr algn="l">
              <a:lnSpc>
                <a:spcPts val="2783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Yes — Critical Step remains manual (Sign-off)</a:t>
            </a:r>
          </a:p>
          <a:p>
            <a:pPr algn="l">
              <a:lnSpc>
                <a:spcPts val="2783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Critical — production LLM gateway</a:t>
            </a:r>
          </a:p>
          <a:p>
            <a:pPr algn="l">
              <a:lnSpc>
                <a:spcPts val="2783"/>
              </a:lnSpc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                   — DMS access</a:t>
            </a:r>
          </a:p>
          <a:p>
            <a:pPr algn="l">
              <a:lnSpc>
                <a:spcPts val="2783"/>
              </a:lnSpc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                   — </a:t>
            </a: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sandbox account (see compliance docs)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903"/>
              </a:lnSpc>
            </a:pPr>
            <a:r>
              <a:rPr lang="en-US" sz="241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Success</a:t>
            </a:r>
            <a:r>
              <a:rPr lang="en-US" sz="24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operable BPMN, invoice,XML generation, chart automation (OpenAPI integration mocks)</a:t>
            </a:r>
          </a:p>
          <a:p>
            <a:pPr algn="l">
              <a:lnSpc>
                <a:spcPts val="2304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74333">
            <a:off x="-753323" y="3892994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8566190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07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041929" y="2812139"/>
            <a:ext cx="4436573" cy="3588515"/>
          </a:xfrm>
          <a:custGeom>
            <a:avLst/>
            <a:gdLst/>
            <a:ahLst/>
            <a:cxnLst/>
            <a:rect r="r" b="b" t="t" l="l"/>
            <a:pathLst>
              <a:path h="3588515" w="4436573">
                <a:moveTo>
                  <a:pt x="0" y="0"/>
                </a:moveTo>
                <a:lnTo>
                  <a:pt x="4436573" y="0"/>
                </a:lnTo>
                <a:lnTo>
                  <a:pt x="4436573" y="3588515"/>
                </a:lnTo>
                <a:lnTo>
                  <a:pt x="0" y="35885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259" r="0" b="-2037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59873" y="1490378"/>
            <a:ext cx="7103418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57"/>
              </a:lnSpc>
              <a:spcBef>
                <a:spcPct val="0"/>
              </a:spcBef>
            </a:pPr>
            <a:r>
              <a:rPr lang="en-US" b="true" sz="5714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 for listening!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" id="7"/>
          <p:cNvSpPr txBox="true"/>
          <p:nvPr/>
        </p:nvSpPr>
        <p:spPr>
          <a:xfrm rot="0">
            <a:off x="8566190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08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DAHLLGS3Grw</dc:identifier>
  <dcterms:modified xsi:type="dcterms:W3CDTF">2011-08-01T06:04:30Z</dcterms:modified>
  <cp:revision>1</cp:revision>
  <dc:title>praesi isa 2906.pptx</dc:title>
</cp:coreProperties>
</file>