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video/mp4" Extension="mp4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9753600" cy="7315200"/>
  <p:notesSz cx="6858000" cy="9144000"/>
  <p:embeddedFontLst>
    <p:embeddedFont>
      <p:font typeface="Calibri (MS) Bold" charset="1" panose="020F0702030404030204"/>
      <p:regular r:id="rId17"/>
    </p:embeddedFont>
    <p:embeddedFont>
      <p:font typeface="Calibri (MS)" charset="1" panose="020F0502020204030204"/>
      <p:regular r:id="rId18"/>
    </p:embeddedFont>
    <p:embeddedFont>
      <p:font typeface="Garet" charset="1" panose="00000000000000000000"/>
      <p:regular r:id="rId19"/>
    </p:embeddedFont>
    <p:embeddedFont>
      <p:font typeface="Calibri (MS) Italics" charset="1" panose="020F05020202040A0204"/>
      <p:regular r:id="rId20"/>
    </p:embeddedFont>
    <p:embeddedFont>
      <p:font typeface="Garet Bold" charset="1" panose="00000000000000000000"/>
      <p:regular r:id="rId21"/>
    </p:embeddedFont>
    <p:embeddedFont>
      <p:font typeface="Calibri (MS) Light" charset="1" panose="020F0302020204030204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Relationship Id="rId3" Target="../media/image8.png" Type="http://schemas.openxmlformats.org/officeDocument/2006/relationships/image"/><Relationship Id="rId4" Target="../media/image9.svg" Type="http://schemas.openxmlformats.org/officeDocument/2006/relationships/image"/><Relationship Id="rId5" Target="../media/image10.png" Type="http://schemas.openxmlformats.org/officeDocument/2006/relationships/image"/><Relationship Id="rId6" Target="../media/image11.svg" Type="http://schemas.openxmlformats.org/officeDocument/2006/relationships/image"/><Relationship Id="rId7" Target="../media/image3.png" Type="http://schemas.openxmlformats.org/officeDocument/2006/relationships/image"/><Relationship Id="rId8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Relationship Id="rId3" Target="../media/image1.png" Type="http://schemas.openxmlformats.org/officeDocument/2006/relationships/image"/><Relationship Id="rId4" Target="../media/image2.svg" Type="http://schemas.openxmlformats.org/officeDocument/2006/relationships/image"/><Relationship Id="rId5" Target="../media/image3.png" Type="http://schemas.openxmlformats.org/officeDocument/2006/relationships/image"/><Relationship Id="rId6" Target="../media/image4.svg" Type="http://schemas.openxmlformats.org/officeDocument/2006/relationships/image"/><Relationship Id="rId7" Target="../media/image5.png" Type="http://schemas.openxmlformats.org/officeDocument/2006/relationships/image"/><Relationship Id="rId8" Target="../media/image6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12.pn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1.png" Type="http://schemas.openxmlformats.org/officeDocument/2006/relationships/image"/><Relationship Id="rId9" Target="../media/image2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13.jpeg" Type="http://schemas.openxmlformats.org/officeDocument/2006/relationships/image"/><Relationship Id="rId7" Target="../media/VAHN4X429nI.mp4" Type="http://schemas.openxmlformats.org/officeDocument/2006/relationships/video"/><Relationship Id="rId8" Target="../media/VAHN4X429nI.mp4" Type="http://schemas.microsoft.com/office/2007/relationships/media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13.jpeg" Type="http://schemas.openxmlformats.org/officeDocument/2006/relationships/image"/><Relationship Id="rId7" Target="../media/VAHN4TooTQc.mp4" Type="http://schemas.openxmlformats.org/officeDocument/2006/relationships/video"/><Relationship Id="rId8" Target="../media/VAHN4TooTQc.mp4" Type="http://schemas.microsoft.com/office/2007/relationships/media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14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15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1.png" Type="http://schemas.openxmlformats.org/officeDocument/2006/relationships/image"/><Relationship Id="rId8" Target="../media/image2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Relationship Id="rId7" Target="../media/image1.png" Type="http://schemas.openxmlformats.org/officeDocument/2006/relationships/image"/><Relationship Id="rId8" Target="../media/image2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5.png" Type="http://schemas.openxmlformats.org/officeDocument/2006/relationships/image"/><Relationship Id="rId4" Target="../media/image6.svg" Type="http://schemas.openxmlformats.org/officeDocument/2006/relationships/image"/><Relationship Id="rId5" Target="../media/image1.png" Type="http://schemas.openxmlformats.org/officeDocument/2006/relationships/image"/><Relationship Id="rId6" Target="../media/image2.svg" Type="http://schemas.openxmlformats.org/officeDocument/2006/relationships/image"/><Relationship Id="rId7" Target="../media/image3.png" Type="http://schemas.openxmlformats.org/officeDocument/2006/relationships/image"/><Relationship Id="rId8" Target="../media/image4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CEC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06957" y="2562225"/>
            <a:ext cx="8407737" cy="2095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63"/>
              </a:lnSpc>
            </a:pPr>
            <a:r>
              <a:rPr lang="en-US" sz="4386" b="true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Can an Agile Development Project automate 30-40 mins of manual controlling operations</a:t>
            </a:r>
            <a:r>
              <a:rPr lang="en-US" b="true" sz="4386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?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-574333">
            <a:off x="-420522" y="3517293"/>
            <a:ext cx="3854226" cy="5381372"/>
          </a:xfrm>
          <a:custGeom>
            <a:avLst/>
            <a:gdLst/>
            <a:ahLst/>
            <a:cxnLst/>
            <a:rect r="r" b="b" t="t" l="l"/>
            <a:pathLst>
              <a:path h="5381372" w="3854226">
                <a:moveTo>
                  <a:pt x="0" y="0"/>
                </a:moveTo>
                <a:lnTo>
                  <a:pt x="3854226" y="0"/>
                </a:lnTo>
                <a:lnTo>
                  <a:pt x="3854226" y="5381372"/>
                </a:lnTo>
                <a:lnTo>
                  <a:pt x="0" y="538137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7822465" y="247728"/>
            <a:ext cx="1701635" cy="702311"/>
          </a:xfrm>
          <a:custGeom>
            <a:avLst/>
            <a:gdLst/>
            <a:ahLst/>
            <a:cxnLst/>
            <a:rect r="r" b="b" t="t" l="l"/>
            <a:pathLst>
              <a:path h="702311" w="1701635">
                <a:moveTo>
                  <a:pt x="0" y="0"/>
                </a:moveTo>
                <a:lnTo>
                  <a:pt x="1701634" y="0"/>
                </a:lnTo>
                <a:lnTo>
                  <a:pt x="1701634" y="702311"/>
                </a:lnTo>
                <a:lnTo>
                  <a:pt x="0" y="7023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5400000">
            <a:off x="-722627" y="-1434227"/>
            <a:ext cx="4024782" cy="5619507"/>
          </a:xfrm>
          <a:custGeom>
            <a:avLst/>
            <a:gdLst/>
            <a:ahLst/>
            <a:cxnLst/>
            <a:rect r="r" b="b" t="t" l="l"/>
            <a:pathLst>
              <a:path h="5619507" w="4024782">
                <a:moveTo>
                  <a:pt x="0" y="0"/>
                </a:moveTo>
                <a:lnTo>
                  <a:pt x="4024782" y="0"/>
                </a:lnTo>
                <a:lnTo>
                  <a:pt x="4024782" y="5619507"/>
                </a:lnTo>
                <a:lnTo>
                  <a:pt x="0" y="56195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CEC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51785" y="2026994"/>
            <a:ext cx="9172315" cy="1286101"/>
            <a:chOff x="0" y="0"/>
            <a:chExt cx="11722379" cy="16436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722382" cy="1643664"/>
            </a:xfrm>
            <a:custGeom>
              <a:avLst/>
              <a:gdLst/>
              <a:ahLst/>
              <a:cxnLst/>
              <a:rect r="r" b="b" t="t" l="l"/>
              <a:pathLst>
                <a:path h="1643664" w="11722382">
                  <a:moveTo>
                    <a:pt x="0" y="0"/>
                  </a:moveTo>
                  <a:lnTo>
                    <a:pt x="11722382" y="0"/>
                  </a:lnTo>
                  <a:lnTo>
                    <a:pt x="11722382" y="1643664"/>
                  </a:lnTo>
                  <a:lnTo>
                    <a:pt x="0" y="1643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8964" r="0" b="-88964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85725"/>
              <a:ext cx="11722379" cy="172938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359"/>
                </a:lnSpc>
              </a:pPr>
              <a:r>
                <a:rPr lang="en-US" b="true" sz="4466">
                  <a:solidFill>
                    <a:srgbClr val="3F3D3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Validation Report Process Automation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501988" y="3458210"/>
            <a:ext cx="6749625" cy="1323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17"/>
              </a:lnSpc>
            </a:pPr>
            <a:r>
              <a:rPr lang="en-US" sz="2764">
                <a:solidFill>
                  <a:srgbClr val="3F3D3E"/>
                </a:solidFill>
                <a:latin typeface="Calibri (MS)"/>
                <a:ea typeface="Calibri (MS)"/>
                <a:cs typeface="Calibri (MS)"/>
                <a:sym typeface="Calibri (MS)"/>
              </a:rPr>
              <a:t>SoSe 2026, </a:t>
            </a:r>
          </a:p>
          <a:p>
            <a:pPr algn="ctr">
              <a:lnSpc>
                <a:spcPts val="3317"/>
              </a:lnSpc>
            </a:pPr>
            <a:r>
              <a:rPr lang="en-US" sz="2764">
                <a:solidFill>
                  <a:srgbClr val="3F3D3E"/>
                </a:solidFill>
                <a:latin typeface="Calibri (MS)"/>
                <a:ea typeface="Calibri (MS)"/>
                <a:cs typeface="Calibri (MS)"/>
                <a:sym typeface="Calibri (MS)"/>
              </a:rPr>
              <a:t>Architecture and Integration,</a:t>
            </a:r>
          </a:p>
          <a:p>
            <a:pPr algn="ctr">
              <a:lnSpc>
                <a:spcPts val="3317"/>
              </a:lnSpc>
            </a:pPr>
            <a:r>
              <a:rPr lang="en-US" sz="2764">
                <a:solidFill>
                  <a:srgbClr val="3F3D3E"/>
                </a:solidFill>
                <a:latin typeface="Calibri (MS)"/>
                <a:ea typeface="Calibri (MS)"/>
                <a:cs typeface="Calibri (MS)"/>
                <a:sym typeface="Calibri (MS)"/>
              </a:rPr>
              <a:t> Dominik Dietrich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724138" y="5197524"/>
            <a:ext cx="4305324" cy="1205211"/>
            <a:chOff x="0" y="0"/>
            <a:chExt cx="1133912" cy="31742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33912" cy="317422"/>
            </a:xfrm>
            <a:custGeom>
              <a:avLst/>
              <a:gdLst/>
              <a:ahLst/>
              <a:cxnLst/>
              <a:rect r="r" b="b" t="t" l="l"/>
              <a:pathLst>
                <a:path h="317422" w="1133912">
                  <a:moveTo>
                    <a:pt x="102499" y="0"/>
                  </a:moveTo>
                  <a:lnTo>
                    <a:pt x="1031414" y="0"/>
                  </a:lnTo>
                  <a:cubicBezTo>
                    <a:pt x="1058598" y="0"/>
                    <a:pt x="1084669" y="10799"/>
                    <a:pt x="1103891" y="30021"/>
                  </a:cubicBezTo>
                  <a:cubicBezTo>
                    <a:pt x="1123113" y="49243"/>
                    <a:pt x="1133912" y="75314"/>
                    <a:pt x="1133912" y="102499"/>
                  </a:cubicBezTo>
                  <a:lnTo>
                    <a:pt x="1133912" y="214923"/>
                  </a:lnTo>
                  <a:cubicBezTo>
                    <a:pt x="1133912" y="242108"/>
                    <a:pt x="1123113" y="268178"/>
                    <a:pt x="1103891" y="287401"/>
                  </a:cubicBezTo>
                  <a:cubicBezTo>
                    <a:pt x="1084669" y="306623"/>
                    <a:pt x="1058598" y="317422"/>
                    <a:pt x="1031414" y="317422"/>
                  </a:cubicBezTo>
                  <a:lnTo>
                    <a:pt x="102499" y="317422"/>
                  </a:lnTo>
                  <a:cubicBezTo>
                    <a:pt x="75314" y="317422"/>
                    <a:pt x="49243" y="306623"/>
                    <a:pt x="30021" y="287401"/>
                  </a:cubicBezTo>
                  <a:cubicBezTo>
                    <a:pt x="10799" y="268178"/>
                    <a:pt x="0" y="242108"/>
                    <a:pt x="0" y="214923"/>
                  </a:cubicBezTo>
                  <a:lnTo>
                    <a:pt x="0" y="102499"/>
                  </a:lnTo>
                  <a:cubicBezTo>
                    <a:pt x="0" y="75314"/>
                    <a:pt x="10799" y="49243"/>
                    <a:pt x="30021" y="30021"/>
                  </a:cubicBezTo>
                  <a:cubicBezTo>
                    <a:pt x="49243" y="10799"/>
                    <a:pt x="75314" y="0"/>
                    <a:pt x="102499" y="0"/>
                  </a:cubicBezTo>
                  <a:close/>
                </a:path>
              </a:pathLst>
            </a:custGeom>
            <a:solidFill>
              <a:srgbClr val="545454"/>
            </a:solidFill>
            <a:ln w="38100" cap="rnd">
              <a:solidFill>
                <a:srgbClr val="545454"/>
              </a:solidFill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1133912" cy="3555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7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2724138" y="5271653"/>
            <a:ext cx="4305324" cy="1071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96"/>
              </a:lnSpc>
            </a:pPr>
            <a:r>
              <a:rPr lang="en-US" sz="2068">
                <a:solidFill>
                  <a:srgbClr val="E9E9E9"/>
                </a:solidFill>
                <a:latin typeface="Garet"/>
                <a:ea typeface="Garet"/>
                <a:cs typeface="Garet"/>
                <a:sym typeface="Garet"/>
              </a:rPr>
              <a:t>Altay Hennig (1483613), Christina Malki (1574803), </a:t>
            </a:r>
          </a:p>
          <a:p>
            <a:pPr algn="ctr">
              <a:lnSpc>
                <a:spcPts val="2896"/>
              </a:lnSpc>
              <a:spcBef>
                <a:spcPct val="0"/>
              </a:spcBef>
            </a:pPr>
            <a:r>
              <a:rPr lang="en-US" sz="2068">
                <a:solidFill>
                  <a:srgbClr val="E9E9E9"/>
                </a:solidFill>
                <a:latin typeface="Garet"/>
                <a:ea typeface="Garet"/>
                <a:cs typeface="Garet"/>
                <a:sym typeface="Garet"/>
              </a:rPr>
              <a:t>Sarah Bullinger (1577846)</a:t>
            </a:r>
          </a:p>
        </p:txBody>
      </p:sp>
      <p:sp>
        <p:nvSpPr>
          <p:cNvPr name="Freeform 10" id="10"/>
          <p:cNvSpPr/>
          <p:nvPr/>
        </p:nvSpPr>
        <p:spPr>
          <a:xfrm flipH="false" flipV="true" rot="-4628467">
            <a:off x="-97268" y="-517003"/>
            <a:ext cx="3198511" cy="3198511"/>
          </a:xfrm>
          <a:custGeom>
            <a:avLst/>
            <a:gdLst/>
            <a:ahLst/>
            <a:cxnLst/>
            <a:rect r="r" b="b" t="t" l="l"/>
            <a:pathLst>
              <a:path h="3198511" w="3198511">
                <a:moveTo>
                  <a:pt x="0" y="3198512"/>
                </a:moveTo>
                <a:lnTo>
                  <a:pt x="3198511" y="3198512"/>
                </a:lnTo>
                <a:lnTo>
                  <a:pt x="3198511" y="0"/>
                </a:lnTo>
                <a:lnTo>
                  <a:pt x="0" y="0"/>
                </a:lnTo>
                <a:lnTo>
                  <a:pt x="0" y="3198512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true" rot="-5073096">
            <a:off x="-199246" y="-480141"/>
            <a:ext cx="2877180" cy="2877180"/>
          </a:xfrm>
          <a:custGeom>
            <a:avLst/>
            <a:gdLst/>
            <a:ahLst/>
            <a:cxnLst/>
            <a:rect r="r" b="b" t="t" l="l"/>
            <a:pathLst>
              <a:path h="2877180" w="2877180">
                <a:moveTo>
                  <a:pt x="0" y="2877180"/>
                </a:moveTo>
                <a:lnTo>
                  <a:pt x="2877180" y="2877180"/>
                </a:lnTo>
                <a:lnTo>
                  <a:pt x="2877180" y="0"/>
                </a:lnTo>
                <a:lnTo>
                  <a:pt x="0" y="0"/>
                </a:lnTo>
                <a:lnTo>
                  <a:pt x="0" y="287718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true" rot="5761689">
            <a:off x="6650053" y="4211470"/>
            <a:ext cx="3506881" cy="3506881"/>
          </a:xfrm>
          <a:custGeom>
            <a:avLst/>
            <a:gdLst/>
            <a:ahLst/>
            <a:cxnLst/>
            <a:rect r="r" b="b" t="t" l="l"/>
            <a:pathLst>
              <a:path h="3506881" w="3506881">
                <a:moveTo>
                  <a:pt x="0" y="3506882"/>
                </a:moveTo>
                <a:lnTo>
                  <a:pt x="3506882" y="3506882"/>
                </a:lnTo>
                <a:lnTo>
                  <a:pt x="3506882" y="0"/>
                </a:lnTo>
                <a:lnTo>
                  <a:pt x="0" y="0"/>
                </a:lnTo>
                <a:lnTo>
                  <a:pt x="0" y="3506882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true" rot="6211909">
            <a:off x="6784390" y="4723950"/>
            <a:ext cx="3238208" cy="3238208"/>
          </a:xfrm>
          <a:custGeom>
            <a:avLst/>
            <a:gdLst/>
            <a:ahLst/>
            <a:cxnLst/>
            <a:rect r="r" b="b" t="t" l="l"/>
            <a:pathLst>
              <a:path h="3238208" w="3238208">
                <a:moveTo>
                  <a:pt x="0" y="3238207"/>
                </a:moveTo>
                <a:lnTo>
                  <a:pt x="3238208" y="3238207"/>
                </a:lnTo>
                <a:lnTo>
                  <a:pt x="3238208" y="0"/>
                </a:lnTo>
                <a:lnTo>
                  <a:pt x="0" y="0"/>
                </a:lnTo>
                <a:lnTo>
                  <a:pt x="0" y="3238207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7822465" y="247728"/>
            <a:ext cx="1701635" cy="702311"/>
          </a:xfrm>
          <a:custGeom>
            <a:avLst/>
            <a:gdLst/>
            <a:ahLst/>
            <a:cxnLst/>
            <a:rect r="r" b="b" t="t" l="l"/>
            <a:pathLst>
              <a:path h="702311" w="1701635">
                <a:moveTo>
                  <a:pt x="0" y="0"/>
                </a:moveTo>
                <a:lnTo>
                  <a:pt x="1701634" y="0"/>
                </a:lnTo>
                <a:lnTo>
                  <a:pt x="1701634" y="702311"/>
                </a:lnTo>
                <a:lnTo>
                  <a:pt x="0" y="70231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fade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CEC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80908" y="491516"/>
            <a:ext cx="8791785" cy="1232745"/>
            <a:chOff x="0" y="0"/>
            <a:chExt cx="11722379" cy="16436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722382" cy="1643664"/>
            </a:xfrm>
            <a:custGeom>
              <a:avLst/>
              <a:gdLst/>
              <a:ahLst/>
              <a:cxnLst/>
              <a:rect r="r" b="b" t="t" l="l"/>
              <a:pathLst>
                <a:path h="1643664" w="11722382">
                  <a:moveTo>
                    <a:pt x="0" y="0"/>
                  </a:moveTo>
                  <a:lnTo>
                    <a:pt x="11722382" y="0"/>
                  </a:lnTo>
                  <a:lnTo>
                    <a:pt x="11722382" y="1643664"/>
                  </a:lnTo>
                  <a:lnTo>
                    <a:pt x="0" y="16436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8964" r="0" b="-88964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11722379" cy="173890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631"/>
                </a:lnSpc>
              </a:pPr>
              <a:r>
                <a:rPr lang="en-US" b="true" sz="4693">
                  <a:solidFill>
                    <a:srgbClr val="3F3D3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Structure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109031" y="1801102"/>
            <a:ext cx="8579224" cy="57434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54"/>
              </a:lnSpc>
            </a:pPr>
            <a:r>
              <a:rPr lang="en-US" b="true" sz="2919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1. Current Process — </a:t>
            </a:r>
            <a:r>
              <a:rPr lang="en-US" sz="2919" i="true">
                <a:solidFill>
                  <a:srgbClr val="3F3D3E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manual labor</a:t>
            </a:r>
          </a:p>
          <a:p>
            <a:pPr algn="l">
              <a:lnSpc>
                <a:spcPts val="4554"/>
              </a:lnSpc>
            </a:pPr>
          </a:p>
          <a:p>
            <a:pPr algn="l">
              <a:lnSpc>
                <a:spcPts val="4554"/>
              </a:lnSpc>
            </a:pPr>
            <a:r>
              <a:rPr lang="en-US" b="true" sz="2919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2.  Goal Process — </a:t>
            </a:r>
            <a:r>
              <a:rPr lang="en-US" sz="2919" i="true">
                <a:solidFill>
                  <a:srgbClr val="3F3D3E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BPMN and Architecture</a:t>
            </a:r>
          </a:p>
          <a:p>
            <a:pPr algn="l">
              <a:lnSpc>
                <a:spcPts val="4554"/>
              </a:lnSpc>
            </a:pPr>
          </a:p>
          <a:p>
            <a:pPr algn="l">
              <a:lnSpc>
                <a:spcPts val="4554"/>
              </a:lnSpc>
            </a:pPr>
            <a:r>
              <a:rPr lang="en-US" b="true" sz="2919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3</a:t>
            </a:r>
            <a:r>
              <a:rPr lang="en-US" b="true" sz="2919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. Governance — </a:t>
            </a:r>
            <a:r>
              <a:rPr lang="en-US" sz="2919" i="true">
                <a:solidFill>
                  <a:srgbClr val="3F3D3E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Risk Management and Compliance</a:t>
            </a:r>
          </a:p>
          <a:p>
            <a:pPr algn="l">
              <a:lnSpc>
                <a:spcPts val="4554"/>
              </a:lnSpc>
            </a:pPr>
          </a:p>
          <a:p>
            <a:pPr algn="l">
              <a:lnSpc>
                <a:spcPts val="4554"/>
              </a:lnSpc>
            </a:pPr>
            <a:r>
              <a:rPr lang="en-US" b="true" sz="2919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4. Conclusion — </a:t>
            </a:r>
            <a:r>
              <a:rPr lang="en-US" sz="2919" i="true">
                <a:solidFill>
                  <a:srgbClr val="3F3D3E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feasability report</a:t>
            </a:r>
          </a:p>
          <a:p>
            <a:pPr algn="l">
              <a:lnSpc>
                <a:spcPts val="4554"/>
              </a:lnSpc>
            </a:pPr>
          </a:p>
          <a:p>
            <a:pPr algn="l">
              <a:lnSpc>
                <a:spcPts val="4554"/>
              </a:lnSpc>
            </a:pPr>
          </a:p>
          <a:p>
            <a:pPr algn="l">
              <a:lnSpc>
                <a:spcPts val="4554"/>
              </a:lnSpc>
            </a:pPr>
          </a:p>
        </p:txBody>
      </p:sp>
      <p:sp>
        <p:nvSpPr>
          <p:cNvPr name="Freeform 6" id="6"/>
          <p:cNvSpPr/>
          <p:nvPr/>
        </p:nvSpPr>
        <p:spPr>
          <a:xfrm flipH="false" flipV="false" rot="-574333">
            <a:off x="-531559" y="3509834"/>
            <a:ext cx="3854226" cy="5381372"/>
          </a:xfrm>
          <a:custGeom>
            <a:avLst/>
            <a:gdLst/>
            <a:ahLst/>
            <a:cxnLst/>
            <a:rect r="r" b="b" t="t" l="l"/>
            <a:pathLst>
              <a:path h="5381372" w="3854226">
                <a:moveTo>
                  <a:pt x="0" y="0"/>
                </a:moveTo>
                <a:lnTo>
                  <a:pt x="3854226" y="0"/>
                </a:lnTo>
                <a:lnTo>
                  <a:pt x="3854226" y="5381372"/>
                </a:lnTo>
                <a:lnTo>
                  <a:pt x="0" y="53813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7" id="7"/>
          <p:cNvSpPr/>
          <p:nvPr/>
        </p:nvSpPr>
        <p:spPr>
          <a:xfrm>
            <a:off x="0" y="3979"/>
            <a:ext cx="9753600" cy="0"/>
          </a:xfrm>
          <a:prstGeom prst="line">
            <a:avLst/>
          </a:prstGeom>
          <a:ln cap="flat" w="9525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0" y="3979"/>
            <a:ext cx="9753600" cy="0"/>
          </a:xfrm>
          <a:prstGeom prst="line">
            <a:avLst/>
          </a:prstGeom>
          <a:ln cap="flat" w="9525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>
            <a:off x="3041929" y="6864745"/>
            <a:ext cx="5840521" cy="0"/>
          </a:xfrm>
          <a:prstGeom prst="line">
            <a:avLst/>
          </a:prstGeom>
          <a:ln cap="flat" w="9525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0" id="10"/>
          <p:cNvSpPr txBox="true"/>
          <p:nvPr/>
        </p:nvSpPr>
        <p:spPr>
          <a:xfrm rot="0">
            <a:off x="8636905" y="6617335"/>
            <a:ext cx="1271574" cy="44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1"/>
              </a:lnSpc>
              <a:spcBef>
                <a:spcPct val="0"/>
              </a:spcBef>
            </a:pPr>
            <a:r>
              <a:rPr lang="en-US" b="true" sz="2643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01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7822465" y="247728"/>
            <a:ext cx="1701635" cy="702311"/>
          </a:xfrm>
          <a:custGeom>
            <a:avLst/>
            <a:gdLst/>
            <a:ahLst/>
            <a:cxnLst/>
            <a:rect r="r" b="b" t="t" l="l"/>
            <a:pathLst>
              <a:path h="702311" w="1701635">
                <a:moveTo>
                  <a:pt x="0" y="0"/>
                </a:moveTo>
                <a:lnTo>
                  <a:pt x="1701634" y="0"/>
                </a:lnTo>
                <a:lnTo>
                  <a:pt x="1701634" y="702311"/>
                </a:lnTo>
                <a:lnTo>
                  <a:pt x="0" y="70231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5400000">
            <a:off x="-722627" y="-1434227"/>
            <a:ext cx="4024782" cy="5619507"/>
          </a:xfrm>
          <a:custGeom>
            <a:avLst/>
            <a:gdLst/>
            <a:ahLst/>
            <a:cxnLst/>
            <a:rect r="r" b="b" t="t" l="l"/>
            <a:pathLst>
              <a:path h="5619507" w="4024782">
                <a:moveTo>
                  <a:pt x="0" y="0"/>
                </a:moveTo>
                <a:lnTo>
                  <a:pt x="4024782" y="0"/>
                </a:lnTo>
                <a:lnTo>
                  <a:pt x="4024782" y="5619507"/>
                </a:lnTo>
                <a:lnTo>
                  <a:pt x="0" y="5619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  <p:transition spd="fast">
    <p:fade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CEC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40599" y="189781"/>
            <a:ext cx="7727211" cy="1083478"/>
            <a:chOff x="0" y="0"/>
            <a:chExt cx="11722379" cy="16436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722382" cy="1643668"/>
            </a:xfrm>
            <a:custGeom>
              <a:avLst/>
              <a:gdLst/>
              <a:ahLst/>
              <a:cxnLst/>
              <a:rect r="r" b="b" t="t" l="l"/>
              <a:pathLst>
                <a:path h="1643668" w="11722382">
                  <a:moveTo>
                    <a:pt x="0" y="0"/>
                  </a:moveTo>
                  <a:lnTo>
                    <a:pt x="11722382" y="0"/>
                  </a:lnTo>
                  <a:lnTo>
                    <a:pt x="11722382" y="1643668"/>
                  </a:lnTo>
                  <a:lnTo>
                    <a:pt x="0" y="164366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8964" r="0" b="-88963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76200"/>
              <a:ext cx="11722379" cy="1719864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215"/>
                </a:lnSpc>
              </a:pPr>
              <a:r>
                <a:rPr lang="en-US" b="true" sz="3513">
                  <a:solidFill>
                    <a:srgbClr val="3F3D3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1. Current Process </a:t>
              </a:r>
              <a:r>
                <a:rPr lang="en-US" sz="3513">
                  <a:solidFill>
                    <a:srgbClr val="3F3D3E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Manual labor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979169" y="1574862"/>
            <a:ext cx="8042911" cy="3533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25908" indent="-212954" lvl="1">
              <a:lnSpc>
                <a:spcPts val="3971"/>
              </a:lnSpc>
              <a:buFont typeface="Arial"/>
              <a:buChar char="•"/>
            </a:pPr>
            <a:r>
              <a:rPr lang="en-US" b="true" sz="3309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Phase 1</a:t>
            </a:r>
            <a:r>
              <a:rPr lang="en-US" sz="3309">
                <a:solidFill>
                  <a:srgbClr val="3F3D3E"/>
                </a:solidFill>
                <a:latin typeface="Calibri (MS)"/>
                <a:ea typeface="Calibri (MS)"/>
                <a:cs typeface="Calibri (MS)"/>
                <a:sym typeface="Calibri (MS)"/>
              </a:rPr>
              <a:t>: Mail with reports→ ZIP-file → XML extraction</a:t>
            </a:r>
          </a:p>
          <a:p>
            <a:pPr algn="l" marL="425908" indent="-212954" lvl="1">
              <a:lnSpc>
                <a:spcPts val="3971"/>
              </a:lnSpc>
              <a:buFont typeface="Arial"/>
              <a:buChar char="•"/>
            </a:pPr>
            <a:r>
              <a:rPr lang="en-US" b="true" sz="3309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Phase 2</a:t>
            </a:r>
            <a:r>
              <a:rPr lang="en-US" sz="3309">
                <a:solidFill>
                  <a:srgbClr val="3F3D3E"/>
                </a:solidFill>
                <a:latin typeface="Calibri (MS)"/>
                <a:ea typeface="Calibri (MS)"/>
                <a:cs typeface="Calibri (MS)"/>
                <a:sym typeface="Calibri (MS)"/>
              </a:rPr>
              <a:t>: Spreadsheet import + threshold checks</a:t>
            </a:r>
          </a:p>
          <a:p>
            <a:pPr algn="l" marL="425908" indent="-212954" lvl="1">
              <a:lnSpc>
                <a:spcPts val="3971"/>
              </a:lnSpc>
              <a:buFont typeface="Arial"/>
              <a:buChar char="•"/>
            </a:pPr>
            <a:r>
              <a:rPr lang="en-US" b="true" sz="3309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Phase 3</a:t>
            </a:r>
            <a:r>
              <a:rPr lang="en-US" sz="3309">
                <a:solidFill>
                  <a:srgbClr val="3F3D3E"/>
                </a:solidFill>
                <a:latin typeface="Calibri (MS)"/>
                <a:ea typeface="Calibri (MS)"/>
                <a:cs typeface="Calibri (MS)"/>
                <a:sym typeface="Calibri (MS)"/>
              </a:rPr>
              <a:t>: Secure evidence + distribution mail with evidence</a:t>
            </a:r>
          </a:p>
          <a:p>
            <a:pPr algn="l" marL="425908" indent="-212954" lvl="1">
              <a:lnSpc>
                <a:spcPts val="3971"/>
              </a:lnSpc>
              <a:buFont typeface="Arial"/>
              <a:buChar char="•"/>
            </a:pPr>
            <a:r>
              <a:rPr lang="en-US" b="true" sz="3309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Phase 4</a:t>
            </a:r>
            <a:r>
              <a:rPr lang="en-US" sz="3309">
                <a:solidFill>
                  <a:srgbClr val="3F3D3E"/>
                </a:solidFill>
                <a:latin typeface="Calibri (MS)"/>
                <a:ea typeface="Calibri (MS)"/>
                <a:cs typeface="Calibri (MS)"/>
                <a:sym typeface="Calibri (MS)"/>
              </a:rPr>
              <a:t>: Sign-Off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7839992" y="286179"/>
            <a:ext cx="1701635" cy="702311"/>
          </a:xfrm>
          <a:custGeom>
            <a:avLst/>
            <a:gdLst/>
            <a:ahLst/>
            <a:cxnLst/>
            <a:rect r="r" b="b" t="t" l="l"/>
            <a:pathLst>
              <a:path h="702311" w="1701635">
                <a:moveTo>
                  <a:pt x="0" y="0"/>
                </a:moveTo>
                <a:lnTo>
                  <a:pt x="1701635" y="0"/>
                </a:lnTo>
                <a:lnTo>
                  <a:pt x="1701635" y="702311"/>
                </a:lnTo>
                <a:lnTo>
                  <a:pt x="0" y="70231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271133" y="4053643"/>
            <a:ext cx="2611317" cy="2611317"/>
          </a:xfrm>
          <a:custGeom>
            <a:avLst/>
            <a:gdLst/>
            <a:ahLst/>
            <a:cxnLst/>
            <a:rect r="r" b="b" t="t" l="l"/>
            <a:pathLst>
              <a:path h="2611317" w="2611317">
                <a:moveTo>
                  <a:pt x="0" y="0"/>
                </a:moveTo>
                <a:lnTo>
                  <a:pt x="2611317" y="0"/>
                </a:lnTo>
                <a:lnTo>
                  <a:pt x="2611317" y="2611317"/>
                </a:lnTo>
                <a:lnTo>
                  <a:pt x="0" y="26113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5400000">
            <a:off x="-649717" y="-2007004"/>
            <a:ext cx="4024782" cy="5619507"/>
          </a:xfrm>
          <a:custGeom>
            <a:avLst/>
            <a:gdLst/>
            <a:ahLst/>
            <a:cxnLst/>
            <a:rect r="r" b="b" t="t" l="l"/>
            <a:pathLst>
              <a:path h="5619507" w="4024782">
                <a:moveTo>
                  <a:pt x="0" y="0"/>
                </a:moveTo>
                <a:lnTo>
                  <a:pt x="4024782" y="0"/>
                </a:lnTo>
                <a:lnTo>
                  <a:pt x="4024782" y="5619508"/>
                </a:lnTo>
                <a:lnTo>
                  <a:pt x="0" y="56195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-574333">
            <a:off x="-420522" y="3517293"/>
            <a:ext cx="3854226" cy="5381372"/>
          </a:xfrm>
          <a:custGeom>
            <a:avLst/>
            <a:gdLst/>
            <a:ahLst/>
            <a:cxnLst/>
            <a:rect r="r" b="b" t="t" l="l"/>
            <a:pathLst>
              <a:path h="5381372" w="3854226">
                <a:moveTo>
                  <a:pt x="0" y="0"/>
                </a:moveTo>
                <a:lnTo>
                  <a:pt x="3854226" y="0"/>
                </a:lnTo>
                <a:lnTo>
                  <a:pt x="3854226" y="5381372"/>
                </a:lnTo>
                <a:lnTo>
                  <a:pt x="0" y="538137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0" id="10"/>
          <p:cNvSpPr/>
          <p:nvPr/>
        </p:nvSpPr>
        <p:spPr>
          <a:xfrm>
            <a:off x="3041929" y="6864745"/>
            <a:ext cx="5840521" cy="0"/>
          </a:xfrm>
          <a:prstGeom prst="line">
            <a:avLst/>
          </a:prstGeom>
          <a:ln cap="flat" w="9525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1" id="11"/>
          <p:cNvSpPr txBox="true"/>
          <p:nvPr/>
        </p:nvSpPr>
        <p:spPr>
          <a:xfrm rot="0">
            <a:off x="8636905" y="6617335"/>
            <a:ext cx="1271574" cy="44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1"/>
              </a:lnSpc>
              <a:spcBef>
                <a:spcPct val="0"/>
              </a:spcBef>
            </a:pPr>
            <a:r>
              <a:rPr lang="en-US" b="true" sz="2643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02</a:t>
            </a:r>
          </a:p>
        </p:txBody>
      </p:sp>
    </p:spTree>
  </p:cSld>
  <p:clrMapOvr>
    <a:masterClrMapping/>
  </p:clrMapOvr>
  <p:transition spd="fast">
    <p:fade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CEC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839992" y="165841"/>
            <a:ext cx="1701635" cy="702311"/>
          </a:xfrm>
          <a:custGeom>
            <a:avLst/>
            <a:gdLst/>
            <a:ahLst/>
            <a:cxnLst/>
            <a:rect r="r" b="b" t="t" l="l"/>
            <a:pathLst>
              <a:path h="702311" w="1701635">
                <a:moveTo>
                  <a:pt x="0" y="0"/>
                </a:moveTo>
                <a:lnTo>
                  <a:pt x="1701635" y="0"/>
                </a:lnTo>
                <a:lnTo>
                  <a:pt x="1701635" y="702311"/>
                </a:lnTo>
                <a:lnTo>
                  <a:pt x="0" y="7023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338411">
            <a:off x="-1074816" y="4061625"/>
            <a:ext cx="3612673" cy="5044109"/>
          </a:xfrm>
          <a:custGeom>
            <a:avLst/>
            <a:gdLst/>
            <a:ahLst/>
            <a:cxnLst/>
            <a:rect r="r" b="b" t="t" l="l"/>
            <a:pathLst>
              <a:path h="5044109" w="3612673">
                <a:moveTo>
                  <a:pt x="0" y="0"/>
                </a:moveTo>
                <a:lnTo>
                  <a:pt x="3612672" y="0"/>
                </a:lnTo>
                <a:lnTo>
                  <a:pt x="3612672" y="5044110"/>
                </a:lnTo>
                <a:lnTo>
                  <a:pt x="0" y="50441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>
            <a:off x="3041929" y="6864745"/>
            <a:ext cx="5840521" cy="0"/>
          </a:xfrm>
          <a:prstGeom prst="line">
            <a:avLst/>
          </a:prstGeom>
          <a:ln cap="flat" w="9525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pic>
        <p:nvPicPr>
          <p:cNvPr name="Picture 5" id="5">
            <a:hlinkClick action="ppaction://media"/>
          </p:cNvPr>
          <p:cNvPicPr>
            <a:picLocks noChangeAspect="true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6"/>
          <a:srcRect l="0" t="0" r="0" b="0"/>
          <a:stretch>
            <a:fillRect/>
          </a:stretch>
        </p:blipFill>
        <p:spPr>
          <a:xfrm flipH="false" flipV="false" rot="0">
            <a:off x="0" y="1508630"/>
            <a:ext cx="9753600" cy="4297940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8690809" y="6617335"/>
            <a:ext cx="1271574" cy="44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1"/>
              </a:lnSpc>
              <a:spcBef>
                <a:spcPct val="0"/>
              </a:spcBef>
            </a:pPr>
            <a:r>
              <a:rPr lang="en-US" b="true" sz="2643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03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31520" y="268077"/>
            <a:ext cx="6885236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51"/>
              </a:lnSpc>
            </a:pPr>
            <a:r>
              <a:rPr lang="en-US" sz="3459" b="true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</a:t>
            </a:r>
            <a:r>
              <a:rPr lang="en-US" b="true" sz="3459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.1 </a:t>
            </a:r>
            <a:r>
              <a:rPr lang="en-US" b="true" sz="3459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BPMN GOAL— Rule Violation: YES</a:t>
            </a:r>
          </a:p>
        </p:txBody>
      </p:sp>
    </p:spTree>
  </p:cSld>
  <p:clrMapOvr>
    <a:masterClrMapping/>
  </p:clrMapOvr>
  <p:transition spd="fast">
    <p:fade/>
  </p:transition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CEC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839992" y="165841"/>
            <a:ext cx="1701635" cy="702311"/>
          </a:xfrm>
          <a:custGeom>
            <a:avLst/>
            <a:gdLst/>
            <a:ahLst/>
            <a:cxnLst/>
            <a:rect r="r" b="b" t="t" l="l"/>
            <a:pathLst>
              <a:path h="702311" w="1701635">
                <a:moveTo>
                  <a:pt x="0" y="0"/>
                </a:moveTo>
                <a:lnTo>
                  <a:pt x="1701635" y="0"/>
                </a:lnTo>
                <a:lnTo>
                  <a:pt x="1701635" y="702311"/>
                </a:lnTo>
                <a:lnTo>
                  <a:pt x="0" y="7023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338411">
            <a:off x="-1074816" y="4061625"/>
            <a:ext cx="3612673" cy="5044109"/>
          </a:xfrm>
          <a:custGeom>
            <a:avLst/>
            <a:gdLst/>
            <a:ahLst/>
            <a:cxnLst/>
            <a:rect r="r" b="b" t="t" l="l"/>
            <a:pathLst>
              <a:path h="5044109" w="3612673">
                <a:moveTo>
                  <a:pt x="0" y="0"/>
                </a:moveTo>
                <a:lnTo>
                  <a:pt x="3612672" y="0"/>
                </a:lnTo>
                <a:lnTo>
                  <a:pt x="3612672" y="5044110"/>
                </a:lnTo>
                <a:lnTo>
                  <a:pt x="0" y="50441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>
            <a:off x="3041929" y="6864745"/>
            <a:ext cx="5840521" cy="0"/>
          </a:xfrm>
          <a:prstGeom prst="line">
            <a:avLst/>
          </a:prstGeom>
          <a:ln cap="flat" w="9525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pic>
        <p:nvPicPr>
          <p:cNvPr name="Picture 5" id="5">
            <a:hlinkClick action="ppaction://media"/>
          </p:cNvPr>
          <p:cNvPicPr>
            <a:picLocks noChangeAspect="true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6"/>
          <a:srcRect l="0" t="0" r="0" b="0"/>
          <a:stretch>
            <a:fillRect/>
          </a:stretch>
        </p:blipFill>
        <p:spPr>
          <a:xfrm flipH="false" flipV="false" rot="0">
            <a:off x="0" y="1508630"/>
            <a:ext cx="9753600" cy="4297940"/>
          </a:xfrm>
          <a:prstGeom prst="rect">
            <a:avLst/>
          </a:prstGeom>
        </p:spPr>
      </p:pic>
      <p:sp>
        <p:nvSpPr>
          <p:cNvPr name="TextBox 6" id="6"/>
          <p:cNvSpPr txBox="true"/>
          <p:nvPr/>
        </p:nvSpPr>
        <p:spPr>
          <a:xfrm rot="0">
            <a:off x="8690809" y="6617335"/>
            <a:ext cx="1271574" cy="44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1"/>
              </a:lnSpc>
              <a:spcBef>
                <a:spcPct val="0"/>
              </a:spcBef>
            </a:pPr>
            <a:r>
              <a:rPr lang="en-US" b="true" sz="2643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04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31520" y="131445"/>
            <a:ext cx="6821537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51"/>
              </a:lnSpc>
            </a:pPr>
            <a:r>
              <a:rPr lang="en-US" sz="3459" b="true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</a:t>
            </a:r>
            <a:r>
              <a:rPr lang="en-US" b="true" sz="3459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.2 </a:t>
            </a:r>
            <a:r>
              <a:rPr lang="en-US" b="true" sz="3459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BPMN GOAL— Rule Violation: NO</a:t>
            </a:r>
          </a:p>
        </p:txBody>
      </p:sp>
    </p:spTree>
  </p:cSld>
  <p:clrMapOvr>
    <a:masterClrMapping/>
  </p:clrMapOvr>
  <p:transition spd="fast">
    <p:fade/>
  </p:transition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CEC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839992" y="165841"/>
            <a:ext cx="1701635" cy="702311"/>
          </a:xfrm>
          <a:custGeom>
            <a:avLst/>
            <a:gdLst/>
            <a:ahLst/>
            <a:cxnLst/>
            <a:rect r="r" b="b" t="t" l="l"/>
            <a:pathLst>
              <a:path h="702311" w="1701635">
                <a:moveTo>
                  <a:pt x="0" y="0"/>
                </a:moveTo>
                <a:lnTo>
                  <a:pt x="1701635" y="0"/>
                </a:lnTo>
                <a:lnTo>
                  <a:pt x="1701635" y="702311"/>
                </a:lnTo>
                <a:lnTo>
                  <a:pt x="0" y="7023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338411">
            <a:off x="-1037583" y="4061625"/>
            <a:ext cx="3612673" cy="5044109"/>
          </a:xfrm>
          <a:custGeom>
            <a:avLst/>
            <a:gdLst/>
            <a:ahLst/>
            <a:cxnLst/>
            <a:rect r="r" b="b" t="t" l="l"/>
            <a:pathLst>
              <a:path h="5044109" w="3612673">
                <a:moveTo>
                  <a:pt x="0" y="0"/>
                </a:moveTo>
                <a:lnTo>
                  <a:pt x="3612673" y="0"/>
                </a:lnTo>
                <a:lnTo>
                  <a:pt x="3612673" y="5044110"/>
                </a:lnTo>
                <a:lnTo>
                  <a:pt x="0" y="50441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>
            <a:off x="3041929" y="6864745"/>
            <a:ext cx="5840521" cy="0"/>
          </a:xfrm>
          <a:prstGeom prst="line">
            <a:avLst/>
          </a:prstGeom>
          <a:ln cap="flat" w="9525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8636905" y="6617335"/>
            <a:ext cx="1271574" cy="44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1"/>
              </a:lnSpc>
              <a:spcBef>
                <a:spcPct val="0"/>
              </a:spcBef>
            </a:pPr>
            <a:r>
              <a:rPr lang="en-US" b="true" sz="2643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05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62860" y="1527592"/>
            <a:ext cx="4332833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84"/>
              </a:lnSpc>
              <a:spcBef>
                <a:spcPct val="0"/>
              </a:spcBef>
            </a:pPr>
            <a:r>
              <a:rPr lang="en-US" b="true" sz="2903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Ingest →</a:t>
            </a:r>
            <a:r>
              <a:rPr lang="en-US" b="true" sz="2903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validate → archive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68754" y="268077"/>
            <a:ext cx="7090454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51"/>
              </a:lnSpc>
            </a:pPr>
            <a:r>
              <a:rPr lang="en-US" sz="3459" b="true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</a:t>
            </a:r>
            <a:r>
              <a:rPr lang="en-US" b="true" sz="3459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.3 The Cost of Labor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62860" y="1965742"/>
            <a:ext cx="2425834" cy="4656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37"/>
              </a:lnSpc>
              <a:spcBef>
                <a:spcPct val="0"/>
              </a:spcBef>
            </a:pPr>
            <a:r>
              <a:rPr lang="en-US" sz="2697" i="true">
                <a:solidFill>
                  <a:srgbClr val="000000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Automated Labor</a:t>
            </a:r>
          </a:p>
        </p:txBody>
      </p:sp>
      <p:pic>
        <p:nvPicPr>
          <p:cNvPr name="Picture 9" id="9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1061911" y="3388491"/>
            <a:ext cx="7507243" cy="2377293"/>
          </a:xfrm>
          <a:prstGeom prst="rect">
            <a:avLst/>
          </a:prstGeom>
        </p:spPr>
      </p:pic>
      <p:sp>
        <p:nvSpPr>
          <p:cNvPr name="TextBox 10" id="10"/>
          <p:cNvSpPr txBox="true"/>
          <p:nvPr/>
        </p:nvSpPr>
        <p:spPr>
          <a:xfrm rot="0">
            <a:off x="1780890" y="5102081"/>
            <a:ext cx="5994819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"/>
              </a:lnSpc>
              <a:spcBef>
                <a:spcPct val="0"/>
              </a:spcBef>
            </a:pPr>
            <a:r>
              <a:rPr lang="en-US" sz="1897" i="true">
                <a:solidFill>
                  <a:srgbClr val="000000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AGILE development Project vs expected hourly rates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882406" y="4262106"/>
            <a:ext cx="3913287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36"/>
              </a:lnSpc>
              <a:spcBef>
                <a:spcPct val="0"/>
              </a:spcBef>
            </a:pPr>
            <a:r>
              <a:rPr lang="en-US" sz="3280" i="true">
                <a:solidFill>
                  <a:srgbClr val="FFFFFF"/>
                </a:solidFill>
                <a:latin typeface="Calibri (MS) Italics"/>
                <a:ea typeface="Calibri (MS) Italics"/>
                <a:cs typeface="Calibri (MS) Italics"/>
                <a:sym typeface="Calibri (MS) Italics"/>
              </a:rPr>
              <a:t>Break Even after 1 year</a:t>
            </a:r>
          </a:p>
        </p:txBody>
      </p:sp>
      <p:sp>
        <p:nvSpPr>
          <p:cNvPr name="AutoShape 12" id="12"/>
          <p:cNvSpPr/>
          <p:nvPr/>
        </p:nvSpPr>
        <p:spPr>
          <a:xfrm>
            <a:off x="1687515" y="3545690"/>
            <a:ext cx="5994819" cy="0"/>
          </a:xfrm>
          <a:prstGeom prst="line">
            <a:avLst/>
          </a:prstGeom>
          <a:ln cap="flat" w="38100">
            <a:solidFill>
              <a:srgbClr val="545454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TextBox 13" id="13"/>
          <p:cNvSpPr txBox="true"/>
          <p:nvPr/>
        </p:nvSpPr>
        <p:spPr>
          <a:xfrm rot="0">
            <a:off x="1687515" y="2884588"/>
            <a:ext cx="5025182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51"/>
              </a:lnSpc>
              <a:spcBef>
                <a:spcPct val="0"/>
              </a:spcBef>
            </a:pPr>
            <a:r>
              <a:rPr lang="en-US" b="true" sz="3459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Free Up valuable work time</a:t>
            </a:r>
          </a:p>
        </p:txBody>
      </p:sp>
    </p:spTree>
  </p:cSld>
  <p:clrMapOvr>
    <a:masterClrMapping/>
  </p:clrMapOvr>
  <p:transition spd="fast">
    <p:fade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CEC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839992" y="165841"/>
            <a:ext cx="1701635" cy="702311"/>
          </a:xfrm>
          <a:custGeom>
            <a:avLst/>
            <a:gdLst/>
            <a:ahLst/>
            <a:cxnLst/>
            <a:rect r="r" b="b" t="t" l="l"/>
            <a:pathLst>
              <a:path h="702311" w="1701635">
                <a:moveTo>
                  <a:pt x="0" y="0"/>
                </a:moveTo>
                <a:lnTo>
                  <a:pt x="1701635" y="0"/>
                </a:lnTo>
                <a:lnTo>
                  <a:pt x="1701635" y="702311"/>
                </a:lnTo>
                <a:lnTo>
                  <a:pt x="0" y="7023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1338411">
            <a:off x="-1037583" y="4061625"/>
            <a:ext cx="3612673" cy="5044109"/>
          </a:xfrm>
          <a:custGeom>
            <a:avLst/>
            <a:gdLst/>
            <a:ahLst/>
            <a:cxnLst/>
            <a:rect r="r" b="b" t="t" l="l"/>
            <a:pathLst>
              <a:path h="5044109" w="3612673">
                <a:moveTo>
                  <a:pt x="0" y="0"/>
                </a:moveTo>
                <a:lnTo>
                  <a:pt x="3612673" y="0"/>
                </a:lnTo>
                <a:lnTo>
                  <a:pt x="3612673" y="5044110"/>
                </a:lnTo>
                <a:lnTo>
                  <a:pt x="0" y="50441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4" id="4"/>
          <p:cNvSpPr/>
          <p:nvPr/>
        </p:nvSpPr>
        <p:spPr>
          <a:xfrm>
            <a:off x="3041929" y="6864745"/>
            <a:ext cx="5840521" cy="0"/>
          </a:xfrm>
          <a:prstGeom prst="line">
            <a:avLst/>
          </a:prstGeom>
          <a:ln cap="flat" w="9525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768754" y="778934"/>
            <a:ext cx="6441975" cy="5886026"/>
          </a:xfrm>
          <a:custGeom>
            <a:avLst/>
            <a:gdLst/>
            <a:ahLst/>
            <a:cxnLst/>
            <a:rect r="r" b="b" t="t" l="l"/>
            <a:pathLst>
              <a:path h="5886026" w="6441975">
                <a:moveTo>
                  <a:pt x="0" y="0"/>
                </a:moveTo>
                <a:lnTo>
                  <a:pt x="6441974" y="0"/>
                </a:lnTo>
                <a:lnTo>
                  <a:pt x="6441974" y="5886026"/>
                </a:lnTo>
                <a:lnTo>
                  <a:pt x="0" y="588602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3870" t="-2242" r="-7148" b="-7226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8636905" y="6617335"/>
            <a:ext cx="1271574" cy="44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1"/>
              </a:lnSpc>
              <a:spcBef>
                <a:spcPct val="0"/>
              </a:spcBef>
            </a:pPr>
            <a:r>
              <a:rPr lang="en-US" b="true" sz="2643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06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31520" y="178859"/>
            <a:ext cx="7090454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51"/>
              </a:lnSpc>
            </a:pPr>
            <a:r>
              <a:rPr lang="en-US" sz="3459" b="true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</a:t>
            </a:r>
            <a:r>
              <a:rPr lang="en-US" b="true" sz="3459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.4 System Architecture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CEC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80908" y="286179"/>
            <a:ext cx="8791785" cy="1350044"/>
            <a:chOff x="0" y="0"/>
            <a:chExt cx="11722379" cy="180005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722382" cy="1800063"/>
            </a:xfrm>
            <a:custGeom>
              <a:avLst/>
              <a:gdLst/>
              <a:ahLst/>
              <a:cxnLst/>
              <a:rect r="r" b="b" t="t" l="l"/>
              <a:pathLst>
                <a:path h="1800063" w="11722382">
                  <a:moveTo>
                    <a:pt x="0" y="0"/>
                  </a:moveTo>
                  <a:lnTo>
                    <a:pt x="11722382" y="0"/>
                  </a:lnTo>
                  <a:lnTo>
                    <a:pt x="11722382" y="1800063"/>
                  </a:lnTo>
                  <a:lnTo>
                    <a:pt x="0" y="1800063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1234" r="0" b="-7254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76200"/>
              <a:ext cx="11722379" cy="187625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575"/>
                </a:lnSpc>
              </a:pPr>
              <a:r>
                <a:rPr lang="en-US" sz="3813" b="true">
                  <a:solidFill>
                    <a:srgbClr val="3F3D3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</a:t>
              </a:r>
              <a:r>
                <a:rPr lang="en-US" b="true" sz="3813">
                  <a:solidFill>
                    <a:srgbClr val="3F3D3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. Governance</a:t>
              </a:r>
            </a:p>
            <a:p>
              <a:pPr algn="ctr">
                <a:lnSpc>
                  <a:spcPts val="4575"/>
                </a:lnSpc>
              </a:pPr>
              <a:r>
                <a:rPr lang="en-US" sz="3813">
                  <a:solidFill>
                    <a:srgbClr val="3F3D3E"/>
                  </a:solidFill>
                  <a:latin typeface="Calibri (MS) Light"/>
                  <a:ea typeface="Calibri (MS) Light"/>
                  <a:cs typeface="Calibri (MS) Light"/>
                  <a:sym typeface="Calibri (MS) Light"/>
                </a:rPr>
                <a:t>Risk Management and Compliance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211480" y="5152773"/>
            <a:ext cx="8439966" cy="6020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39696" indent="-119848" lvl="1">
              <a:lnSpc>
                <a:spcPts val="2235"/>
              </a:lnSpc>
              <a:buFont typeface="Arial"/>
              <a:buChar char="•"/>
            </a:pPr>
            <a:r>
              <a:rPr lang="en-US" sz="1862">
                <a:solidFill>
                  <a:srgbClr val="3F3D3E"/>
                </a:solidFill>
                <a:latin typeface="Calibri (MS)"/>
                <a:ea typeface="Calibri (MS)"/>
                <a:cs typeface="Calibri (MS)"/>
                <a:sym typeface="Calibri (MS)"/>
              </a:rPr>
              <a:t>Leaving</a:t>
            </a:r>
            <a:r>
              <a:rPr lang="en-US" sz="1862">
                <a:solidFill>
                  <a:srgbClr val="3F3D3E"/>
                </a:solidFill>
                <a:latin typeface="Calibri (MS)"/>
                <a:ea typeface="Calibri (MS)"/>
                <a:cs typeface="Calibri (MS)"/>
                <a:sym typeface="Calibri (MS)"/>
              </a:rPr>
              <a:t> the happy path → not regarded in this project</a:t>
            </a:r>
          </a:p>
          <a:p>
            <a:pPr algn="l" marL="239696" indent="-119848" lvl="1">
              <a:lnSpc>
                <a:spcPts val="2235"/>
              </a:lnSpc>
              <a:buFont typeface="Arial"/>
              <a:buChar char="•"/>
            </a:pPr>
            <a:r>
              <a:rPr lang="en-US" sz="1862">
                <a:solidFill>
                  <a:srgbClr val="3F3D3E"/>
                </a:solidFill>
                <a:latin typeface="Calibri (MS)"/>
                <a:ea typeface="Calibri (MS)"/>
                <a:cs typeface="Calibri (MS)"/>
                <a:sym typeface="Calibri (MS)"/>
              </a:rPr>
              <a:t>The System needs to Exit consistently to prevent Archive gaps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25290" y="3193149"/>
            <a:ext cx="8541172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95"/>
              </a:lnSpc>
              <a:spcBef>
                <a:spcPct val="0"/>
              </a:spcBef>
            </a:pPr>
            <a:r>
              <a:rPr lang="en-US" b="true" sz="3413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Chance: Cleaner Compliance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78207" y="4570185"/>
            <a:ext cx="6442621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095"/>
              </a:lnSpc>
              <a:spcBef>
                <a:spcPct val="0"/>
              </a:spcBef>
            </a:pPr>
            <a:r>
              <a:rPr lang="en-US" b="true" sz="3413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 Risk: Alerts and Exception Handling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11480" y="3761836"/>
            <a:ext cx="8700345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47091" indent="-123546" lvl="1">
              <a:lnSpc>
                <a:spcPts val="2304"/>
              </a:lnSpc>
              <a:buFont typeface="Arial"/>
              <a:buChar char="•"/>
            </a:pPr>
            <a:r>
              <a:rPr lang="en-US" sz="1920">
                <a:solidFill>
                  <a:srgbClr val="3F3D3E"/>
                </a:solidFill>
                <a:latin typeface="Calibri (MS)"/>
                <a:ea typeface="Calibri (MS)"/>
                <a:cs typeface="Calibri (MS)"/>
                <a:sym typeface="Calibri (MS)"/>
              </a:rPr>
              <a:t>File convention friction = highest automation leverage - Better audibility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25290" y="1899387"/>
            <a:ext cx="7624175" cy="1028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2"/>
              </a:lnSpc>
            </a:pPr>
            <a:r>
              <a:rPr lang="en-US" b="true" sz="3243" strike="noStrike" u="none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Rule: Operator is responsible </a:t>
            </a:r>
          </a:p>
          <a:p>
            <a:pPr algn="l" marL="0" indent="0" lvl="0">
              <a:lnSpc>
                <a:spcPts val="3892"/>
              </a:lnSpc>
              <a:spcBef>
                <a:spcPct val="0"/>
              </a:spcBef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1211480" y="2417680"/>
            <a:ext cx="6214318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47090" indent="-123545" lvl="1">
              <a:lnSpc>
                <a:spcPts val="2304"/>
              </a:lnSpc>
              <a:spcBef>
                <a:spcPct val="0"/>
              </a:spcBef>
              <a:buFont typeface="Arial"/>
              <a:buChar char="•"/>
            </a:pPr>
            <a:r>
              <a:rPr lang="en-US" sz="1920" strike="noStrike" u="none">
                <a:solidFill>
                  <a:srgbClr val="3F3D3E"/>
                </a:solidFill>
                <a:latin typeface="Calibri (MS)"/>
                <a:ea typeface="Calibri (MS)"/>
                <a:cs typeface="Calibri (MS)"/>
                <a:sym typeface="Calibri (MS)"/>
              </a:rPr>
              <a:t> Manual Process Remaining → sign-off not system-enforced 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7839992" y="165841"/>
            <a:ext cx="1701635" cy="702311"/>
          </a:xfrm>
          <a:custGeom>
            <a:avLst/>
            <a:gdLst/>
            <a:ahLst/>
            <a:cxnLst/>
            <a:rect r="r" b="b" t="t" l="l"/>
            <a:pathLst>
              <a:path h="702311" w="1701635">
                <a:moveTo>
                  <a:pt x="0" y="0"/>
                </a:moveTo>
                <a:lnTo>
                  <a:pt x="1701635" y="0"/>
                </a:lnTo>
                <a:lnTo>
                  <a:pt x="1701635" y="702311"/>
                </a:lnTo>
                <a:lnTo>
                  <a:pt x="0" y="70231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5400000">
            <a:off x="-722627" y="-1434227"/>
            <a:ext cx="4024782" cy="5619507"/>
          </a:xfrm>
          <a:custGeom>
            <a:avLst/>
            <a:gdLst/>
            <a:ahLst/>
            <a:cxnLst/>
            <a:rect r="r" b="b" t="t" l="l"/>
            <a:pathLst>
              <a:path h="5619507" w="4024782">
                <a:moveTo>
                  <a:pt x="0" y="0"/>
                </a:moveTo>
                <a:lnTo>
                  <a:pt x="4024782" y="0"/>
                </a:lnTo>
                <a:lnTo>
                  <a:pt x="4024782" y="5619507"/>
                </a:lnTo>
                <a:lnTo>
                  <a:pt x="0" y="561950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-574333">
            <a:off x="-420522" y="3517293"/>
            <a:ext cx="3854226" cy="5381372"/>
          </a:xfrm>
          <a:custGeom>
            <a:avLst/>
            <a:gdLst/>
            <a:ahLst/>
            <a:cxnLst/>
            <a:rect r="r" b="b" t="t" l="l"/>
            <a:pathLst>
              <a:path h="5381372" w="3854226">
                <a:moveTo>
                  <a:pt x="0" y="0"/>
                </a:moveTo>
                <a:lnTo>
                  <a:pt x="3854226" y="0"/>
                </a:lnTo>
                <a:lnTo>
                  <a:pt x="3854226" y="5381372"/>
                </a:lnTo>
                <a:lnTo>
                  <a:pt x="0" y="538137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4" id="14"/>
          <p:cNvSpPr/>
          <p:nvPr/>
        </p:nvSpPr>
        <p:spPr>
          <a:xfrm>
            <a:off x="3041929" y="6864745"/>
            <a:ext cx="5840521" cy="0"/>
          </a:xfrm>
          <a:prstGeom prst="line">
            <a:avLst/>
          </a:prstGeom>
          <a:ln cap="flat" w="9525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5" id="15"/>
          <p:cNvSpPr txBox="true"/>
          <p:nvPr/>
        </p:nvSpPr>
        <p:spPr>
          <a:xfrm rot="0">
            <a:off x="8690809" y="6617335"/>
            <a:ext cx="1271574" cy="44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1"/>
              </a:lnSpc>
              <a:spcBef>
                <a:spcPct val="0"/>
              </a:spcBef>
            </a:pPr>
            <a:r>
              <a:rPr lang="en-US" b="true" sz="2643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07</a:t>
            </a:r>
          </a:p>
        </p:txBody>
      </p:sp>
    </p:spTree>
  </p:cSld>
  <p:clrMapOvr>
    <a:masterClrMapping/>
  </p:clrMapOvr>
  <p:transition spd="fast">
    <p:fade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CEC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92367" y="506308"/>
            <a:ext cx="8791785" cy="1232748"/>
            <a:chOff x="0" y="0"/>
            <a:chExt cx="11722379" cy="164366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722382" cy="1643668"/>
            </a:xfrm>
            <a:custGeom>
              <a:avLst/>
              <a:gdLst/>
              <a:ahLst/>
              <a:cxnLst/>
              <a:rect r="r" b="b" t="t" l="l"/>
              <a:pathLst>
                <a:path h="1643668" w="11722382">
                  <a:moveTo>
                    <a:pt x="0" y="0"/>
                  </a:moveTo>
                  <a:lnTo>
                    <a:pt x="11722382" y="0"/>
                  </a:lnTo>
                  <a:lnTo>
                    <a:pt x="11722382" y="1643668"/>
                  </a:lnTo>
                  <a:lnTo>
                    <a:pt x="0" y="164366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88964" r="0" b="-88963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85725"/>
              <a:ext cx="11722379" cy="1729389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039"/>
                </a:lnSpc>
              </a:pPr>
              <a:r>
                <a:rPr lang="en-US" sz="4199" b="true">
                  <a:solidFill>
                    <a:srgbClr val="3F3D3E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4. Conclusion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039701" y="1691430"/>
            <a:ext cx="8713899" cy="4981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83"/>
              </a:lnSpc>
            </a:pPr>
            <a:r>
              <a:rPr lang="en-US" sz="281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Can an Agile Development Project automate 30-40 mins of manual controlling operations?</a:t>
            </a:r>
          </a:p>
          <a:p>
            <a:pPr algn="l">
              <a:lnSpc>
                <a:spcPts val="2304"/>
              </a:lnSpc>
            </a:pPr>
          </a:p>
          <a:p>
            <a:pPr algn="l" marL="500886" indent="-250443" lvl="1">
              <a:lnSpc>
                <a:spcPts val="2783"/>
              </a:lnSpc>
              <a:buFont typeface="Arial"/>
              <a:buChar char="•"/>
            </a:pPr>
            <a:r>
              <a:rPr lang="en-US" sz="231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Yes—Cooperation with all departments in SCOPE </a:t>
            </a:r>
          </a:p>
          <a:p>
            <a:pPr algn="l">
              <a:lnSpc>
                <a:spcPts val="2783"/>
              </a:lnSpc>
            </a:pPr>
          </a:p>
          <a:p>
            <a:pPr algn="l" marL="500886" indent="-250443" lvl="1">
              <a:lnSpc>
                <a:spcPts val="2783"/>
              </a:lnSpc>
              <a:buFont typeface="Arial"/>
              <a:buChar char="•"/>
            </a:pPr>
            <a:r>
              <a:rPr lang="en-US" sz="231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Yes — Critical Step remains manual (Sign-off)</a:t>
            </a:r>
          </a:p>
          <a:p>
            <a:pPr algn="l">
              <a:lnSpc>
                <a:spcPts val="2783"/>
              </a:lnSpc>
            </a:pPr>
          </a:p>
          <a:p>
            <a:pPr algn="l" marL="500886" indent="-250443" lvl="1">
              <a:lnSpc>
                <a:spcPts val="2783"/>
              </a:lnSpc>
              <a:buFont typeface="Arial"/>
              <a:buChar char="•"/>
            </a:pPr>
            <a:r>
              <a:rPr lang="en-US" sz="231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Critical — production LLM gateway</a:t>
            </a:r>
          </a:p>
          <a:p>
            <a:pPr algn="l">
              <a:lnSpc>
                <a:spcPts val="2783"/>
              </a:lnSpc>
            </a:pPr>
            <a:r>
              <a:rPr lang="en-US" sz="231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                    — DMS access</a:t>
            </a:r>
          </a:p>
          <a:p>
            <a:pPr algn="l">
              <a:lnSpc>
                <a:spcPts val="2783"/>
              </a:lnSpc>
            </a:pPr>
            <a:r>
              <a:rPr lang="en-US" sz="231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                     — </a:t>
            </a:r>
            <a:r>
              <a:rPr lang="en-US" sz="231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sandbox account (see compliance docs)</a:t>
            </a:r>
          </a:p>
          <a:p>
            <a:pPr algn="l">
              <a:lnSpc>
                <a:spcPts val="2304"/>
              </a:lnSpc>
            </a:pPr>
          </a:p>
          <a:p>
            <a:pPr algn="l">
              <a:lnSpc>
                <a:spcPts val="2903"/>
              </a:lnSpc>
            </a:pPr>
            <a:r>
              <a:rPr lang="en-US" sz="2419" b="true">
                <a:solidFill>
                  <a:srgbClr val="000000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Success</a:t>
            </a:r>
            <a:r>
              <a:rPr lang="en-US" sz="241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: </a:t>
            </a:r>
            <a:r>
              <a:rPr lang="en-US" sz="2419">
                <a:solidFill>
                  <a:srgbClr val="000000"/>
                </a:solidFill>
                <a:latin typeface="Calibri (MS)"/>
                <a:ea typeface="Calibri (MS)"/>
                <a:cs typeface="Calibri (MS)"/>
                <a:sym typeface="Calibri (MS)"/>
              </a:rPr>
              <a:t>operable BPMN, invoice,XML generation, chart automation (OpenAPI integration mocks)</a:t>
            </a:r>
          </a:p>
          <a:p>
            <a:pPr algn="l">
              <a:lnSpc>
                <a:spcPts val="2304"/>
              </a:lnSpc>
            </a:pP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7839992" y="165841"/>
            <a:ext cx="1701635" cy="702311"/>
          </a:xfrm>
          <a:custGeom>
            <a:avLst/>
            <a:gdLst/>
            <a:ahLst/>
            <a:cxnLst/>
            <a:rect r="r" b="b" t="t" l="l"/>
            <a:pathLst>
              <a:path h="702311" w="1701635">
                <a:moveTo>
                  <a:pt x="0" y="0"/>
                </a:moveTo>
                <a:lnTo>
                  <a:pt x="1701635" y="0"/>
                </a:lnTo>
                <a:lnTo>
                  <a:pt x="1701635" y="702311"/>
                </a:lnTo>
                <a:lnTo>
                  <a:pt x="0" y="70231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5400000">
            <a:off x="-722627" y="-1434227"/>
            <a:ext cx="4024782" cy="5619507"/>
          </a:xfrm>
          <a:custGeom>
            <a:avLst/>
            <a:gdLst/>
            <a:ahLst/>
            <a:cxnLst/>
            <a:rect r="r" b="b" t="t" l="l"/>
            <a:pathLst>
              <a:path h="5619507" w="4024782">
                <a:moveTo>
                  <a:pt x="0" y="0"/>
                </a:moveTo>
                <a:lnTo>
                  <a:pt x="4024782" y="0"/>
                </a:lnTo>
                <a:lnTo>
                  <a:pt x="4024782" y="5619507"/>
                </a:lnTo>
                <a:lnTo>
                  <a:pt x="0" y="561950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-574333">
            <a:off x="-753323" y="3892994"/>
            <a:ext cx="3854226" cy="5381372"/>
          </a:xfrm>
          <a:custGeom>
            <a:avLst/>
            <a:gdLst/>
            <a:ahLst/>
            <a:cxnLst/>
            <a:rect r="r" b="b" t="t" l="l"/>
            <a:pathLst>
              <a:path h="5381372" w="3854226">
                <a:moveTo>
                  <a:pt x="0" y="0"/>
                </a:moveTo>
                <a:lnTo>
                  <a:pt x="3854226" y="0"/>
                </a:lnTo>
                <a:lnTo>
                  <a:pt x="3854226" y="5381372"/>
                </a:lnTo>
                <a:lnTo>
                  <a:pt x="0" y="538137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9" id="9"/>
          <p:cNvSpPr/>
          <p:nvPr/>
        </p:nvSpPr>
        <p:spPr>
          <a:xfrm>
            <a:off x="3041929" y="6864745"/>
            <a:ext cx="5840521" cy="0"/>
          </a:xfrm>
          <a:prstGeom prst="line">
            <a:avLst/>
          </a:prstGeom>
          <a:ln cap="flat" w="9525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0" id="10"/>
          <p:cNvSpPr txBox="true"/>
          <p:nvPr/>
        </p:nvSpPr>
        <p:spPr>
          <a:xfrm rot="0">
            <a:off x="8566190" y="6617335"/>
            <a:ext cx="1271574" cy="44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1"/>
              </a:lnSpc>
              <a:spcBef>
                <a:spcPct val="0"/>
              </a:spcBef>
            </a:pPr>
            <a:r>
              <a:rPr lang="en-US" b="true" sz="2643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08</a:t>
            </a:r>
          </a:p>
        </p:txBody>
      </p:sp>
    </p:spTree>
  </p:cSld>
  <p:clrMapOvr>
    <a:masterClrMapping/>
  </p:clrMapOvr>
  <p:transition spd="fast">
    <p:fade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CEC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041929" y="2812139"/>
            <a:ext cx="4436573" cy="3588515"/>
          </a:xfrm>
          <a:custGeom>
            <a:avLst/>
            <a:gdLst/>
            <a:ahLst/>
            <a:cxnLst/>
            <a:rect r="r" b="b" t="t" l="l"/>
            <a:pathLst>
              <a:path h="3588515" w="4436573">
                <a:moveTo>
                  <a:pt x="0" y="0"/>
                </a:moveTo>
                <a:lnTo>
                  <a:pt x="4436573" y="0"/>
                </a:lnTo>
                <a:lnTo>
                  <a:pt x="4436573" y="3588515"/>
                </a:lnTo>
                <a:lnTo>
                  <a:pt x="0" y="358851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259" r="0" b="-20372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959873" y="1490378"/>
            <a:ext cx="7103418" cy="990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857"/>
              </a:lnSpc>
              <a:spcBef>
                <a:spcPct val="0"/>
              </a:spcBef>
            </a:pPr>
            <a:r>
              <a:rPr lang="en-US" b="true" sz="5714">
                <a:solidFill>
                  <a:srgbClr val="3F3D3E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Thank you for listening!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5400000">
            <a:off x="-722627" y="-1434227"/>
            <a:ext cx="4024782" cy="5619507"/>
          </a:xfrm>
          <a:custGeom>
            <a:avLst/>
            <a:gdLst/>
            <a:ahLst/>
            <a:cxnLst/>
            <a:rect r="r" b="b" t="t" l="l"/>
            <a:pathLst>
              <a:path h="5619507" w="4024782">
                <a:moveTo>
                  <a:pt x="0" y="0"/>
                </a:moveTo>
                <a:lnTo>
                  <a:pt x="4024782" y="0"/>
                </a:lnTo>
                <a:lnTo>
                  <a:pt x="4024782" y="5619507"/>
                </a:lnTo>
                <a:lnTo>
                  <a:pt x="0" y="561950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574333">
            <a:off x="-420522" y="3517293"/>
            <a:ext cx="3854226" cy="5381372"/>
          </a:xfrm>
          <a:custGeom>
            <a:avLst/>
            <a:gdLst/>
            <a:ahLst/>
            <a:cxnLst/>
            <a:rect r="r" b="b" t="t" l="l"/>
            <a:pathLst>
              <a:path h="5381372" w="3854226">
                <a:moveTo>
                  <a:pt x="0" y="0"/>
                </a:moveTo>
                <a:lnTo>
                  <a:pt x="3854226" y="0"/>
                </a:lnTo>
                <a:lnTo>
                  <a:pt x="3854226" y="5381372"/>
                </a:lnTo>
                <a:lnTo>
                  <a:pt x="0" y="538137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6" id="6"/>
          <p:cNvSpPr/>
          <p:nvPr/>
        </p:nvSpPr>
        <p:spPr>
          <a:xfrm>
            <a:off x="3041929" y="6864745"/>
            <a:ext cx="5840521" cy="0"/>
          </a:xfrm>
          <a:prstGeom prst="line">
            <a:avLst/>
          </a:prstGeom>
          <a:ln cap="flat" w="9525">
            <a:solidFill>
              <a:srgbClr val="545454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7" id="7"/>
          <p:cNvSpPr txBox="true"/>
          <p:nvPr/>
        </p:nvSpPr>
        <p:spPr>
          <a:xfrm rot="0">
            <a:off x="8566190" y="6617335"/>
            <a:ext cx="1271574" cy="4471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01"/>
              </a:lnSpc>
              <a:spcBef>
                <a:spcPct val="0"/>
              </a:spcBef>
            </a:pPr>
            <a:r>
              <a:rPr lang="en-US" b="true" sz="2643">
                <a:solidFill>
                  <a:srgbClr val="545454"/>
                </a:solidFill>
                <a:latin typeface="Garet Bold"/>
                <a:ea typeface="Garet Bold"/>
                <a:cs typeface="Garet Bold"/>
                <a:sym typeface="Garet Bold"/>
              </a:rPr>
              <a:t>09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7839992" y="165841"/>
            <a:ext cx="1701635" cy="702311"/>
          </a:xfrm>
          <a:custGeom>
            <a:avLst/>
            <a:gdLst/>
            <a:ahLst/>
            <a:cxnLst/>
            <a:rect r="r" b="b" t="t" l="l"/>
            <a:pathLst>
              <a:path h="702311" w="1701635">
                <a:moveTo>
                  <a:pt x="0" y="0"/>
                </a:moveTo>
                <a:lnTo>
                  <a:pt x="1701635" y="0"/>
                </a:lnTo>
                <a:lnTo>
                  <a:pt x="1701635" y="702311"/>
                </a:lnTo>
                <a:lnTo>
                  <a:pt x="0" y="70231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DAHN4TWAh5g</dc:identifier>
  <dcterms:modified xsi:type="dcterms:W3CDTF">2011-08-01T06:04:30Z</dcterms:modified>
  <cp:revision>1</cp:revision>
  <dc:title>praesi ai 2906.pptx</dc:title>
</cp:coreProperties>
</file>