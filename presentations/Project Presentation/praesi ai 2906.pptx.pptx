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753600" cy="7315200"/>
  <p:notesSz cx="6858000" cy="9144000"/>
  <p:embeddedFontLst>
    <p:embeddedFont>
      <p:font typeface="Calibri (MS)" panose="020F0502020204030204" pitchFamily="34" charset="0"/>
      <p:regular r:id="rId13"/>
    </p:embeddedFont>
    <p:embeddedFont>
      <p:font typeface="Calibri (MS) Bold" panose="020F0702030404030204" pitchFamily="34" charset="0"/>
      <p:regular r:id="rId14"/>
      <p:bold r:id="rId15"/>
    </p:embeddedFont>
    <p:embeddedFont>
      <p:font typeface="Calibri (MS) Italics" panose="020F05020202040A0204" pitchFamily="34" charset="0"/>
      <p:regular r:id="rId16"/>
      <p:italic r:id="rId17"/>
    </p:embeddedFont>
    <p:embeddedFont>
      <p:font typeface="Calibri (MS) Light" panose="020F0302020204030204" pitchFamily="34" charset="0"/>
      <p:regular r:id="rId18"/>
    </p:embeddedFont>
    <p:embeddedFont>
      <p:font typeface="Garet" pitchFamily="2" charset="77"/>
      <p:regular r:id="rId19"/>
    </p:embeddedFont>
    <p:embeddedFont>
      <p:font typeface="Garet Bold" pitchFamily="2" charset="77"/>
      <p:regular r:id="rId20"/>
      <p:bold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564" autoAdjust="0"/>
  </p:normalViewPr>
  <p:slideViewPr>
    <p:cSldViewPr>
      <p:cViewPr varScale="1">
        <p:scale>
          <a:sx n="100" d="100"/>
          <a:sy n="100" d="100"/>
        </p:scale>
        <p:origin x="1672" y="1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‹Nr.›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3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6" Type="http://schemas.openxmlformats.org/officeDocument/2006/relationships/image" Target="../media/image8.jpeg"/><Relationship Id="rId5" Type="http://schemas.openxmlformats.org/officeDocument/2006/relationships/image" Target="../media/image1.svg"/><Relationship Id="rId4" Type="http://schemas.openxmlformats.org/officeDocument/2006/relationships/image" Target="../media/image2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3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906957" y="2562225"/>
            <a:ext cx="8407737" cy="2095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263"/>
              </a:lnSpc>
            </a:pPr>
            <a:r>
              <a:rPr lang="en-US" sz="4386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an Agile Development Project automate 30-40 mins of manual controlling operations?</a:t>
            </a:r>
          </a:p>
        </p:txBody>
      </p:sp>
      <p:sp>
        <p:nvSpPr>
          <p:cNvPr id="3" name="Freeform 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Freeform 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51785" y="2026994"/>
            <a:ext cx="9172315" cy="1286101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359"/>
                </a:lnSpc>
              </a:pPr>
              <a:r>
                <a:rPr lang="en-US" sz="4466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Validation Report Process Automation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501988" y="3458210"/>
            <a:ext cx="6749625" cy="132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SoSe 2026, 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Architecture and Integration,</a:t>
            </a:r>
          </a:p>
          <a:p>
            <a:pPr algn="ctr">
              <a:lnSpc>
                <a:spcPts val="3317"/>
              </a:lnSpc>
            </a:pPr>
            <a:r>
              <a:rPr lang="en-US" sz="2764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Dominik Dietrich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2724138" y="5197524"/>
            <a:ext cx="4305324" cy="1205211"/>
            <a:chOff x="0" y="0"/>
            <a:chExt cx="1133912" cy="317422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133912" cy="317422"/>
            </a:xfrm>
            <a:custGeom>
              <a:avLst/>
              <a:gdLst/>
              <a:ahLst/>
              <a:cxnLst/>
              <a:rect l="l" t="t" r="r" b="b"/>
              <a:pathLst>
                <a:path w="1133912" h="317422">
                  <a:moveTo>
                    <a:pt x="102499" y="0"/>
                  </a:moveTo>
                  <a:lnTo>
                    <a:pt x="1031414" y="0"/>
                  </a:lnTo>
                  <a:cubicBezTo>
                    <a:pt x="1058598" y="0"/>
                    <a:pt x="1084669" y="10799"/>
                    <a:pt x="1103891" y="30021"/>
                  </a:cubicBezTo>
                  <a:cubicBezTo>
                    <a:pt x="1123113" y="49243"/>
                    <a:pt x="1133912" y="75314"/>
                    <a:pt x="1133912" y="102499"/>
                  </a:cubicBezTo>
                  <a:lnTo>
                    <a:pt x="1133912" y="214923"/>
                  </a:lnTo>
                  <a:cubicBezTo>
                    <a:pt x="1133912" y="242108"/>
                    <a:pt x="1123113" y="268178"/>
                    <a:pt x="1103891" y="287401"/>
                  </a:cubicBezTo>
                  <a:cubicBezTo>
                    <a:pt x="1084669" y="306623"/>
                    <a:pt x="1058598" y="317422"/>
                    <a:pt x="1031414" y="317422"/>
                  </a:cubicBezTo>
                  <a:lnTo>
                    <a:pt x="102499" y="317422"/>
                  </a:lnTo>
                  <a:cubicBezTo>
                    <a:pt x="75314" y="317422"/>
                    <a:pt x="49243" y="306623"/>
                    <a:pt x="30021" y="287401"/>
                  </a:cubicBezTo>
                  <a:cubicBezTo>
                    <a:pt x="10799" y="268178"/>
                    <a:pt x="0" y="242108"/>
                    <a:pt x="0" y="214923"/>
                  </a:cubicBezTo>
                  <a:lnTo>
                    <a:pt x="0" y="102499"/>
                  </a:lnTo>
                  <a:cubicBezTo>
                    <a:pt x="0" y="75314"/>
                    <a:pt x="10799" y="49243"/>
                    <a:pt x="30021" y="30021"/>
                  </a:cubicBezTo>
                  <a:cubicBezTo>
                    <a:pt x="49243" y="10799"/>
                    <a:pt x="75314" y="0"/>
                    <a:pt x="102499" y="0"/>
                  </a:cubicBezTo>
                  <a:close/>
                </a:path>
              </a:pathLst>
            </a:custGeom>
            <a:solidFill>
              <a:srgbClr val="545454"/>
            </a:solidFill>
            <a:ln w="38100" cap="rnd">
              <a:solidFill>
                <a:srgbClr val="545454"/>
              </a:solidFill>
              <a:prstDash val="solid"/>
              <a:round/>
            </a:ln>
          </p:spPr>
          <p:txBody>
            <a:bodyPr/>
            <a:lstStyle/>
            <a:p>
              <a:endParaRPr lang="de-DE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38100"/>
              <a:ext cx="1133912" cy="35552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97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2724138" y="5271653"/>
            <a:ext cx="4305324" cy="1071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896"/>
              </a:lnSpc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Altay Hennig (1483613), Christina Malki (1574803), </a:t>
            </a:r>
          </a:p>
          <a:p>
            <a:pPr algn="ctr">
              <a:lnSpc>
                <a:spcPts val="2896"/>
              </a:lnSpc>
              <a:spcBef>
                <a:spcPct val="0"/>
              </a:spcBef>
            </a:pPr>
            <a:r>
              <a:rPr lang="en-US" sz="2068">
                <a:solidFill>
                  <a:srgbClr val="E9E9E9"/>
                </a:solidFill>
                <a:latin typeface="Garet"/>
                <a:ea typeface="Garet"/>
                <a:cs typeface="Garet"/>
                <a:sym typeface="Garet"/>
              </a:rPr>
              <a:t>Sarah Bullinger (1577846)</a:t>
            </a:r>
          </a:p>
        </p:txBody>
      </p:sp>
      <p:sp>
        <p:nvSpPr>
          <p:cNvPr id="10" name="Freeform 10"/>
          <p:cNvSpPr/>
          <p:nvPr/>
        </p:nvSpPr>
        <p:spPr>
          <a:xfrm rot="-4628467" flipV="1">
            <a:off x="-97268" y="-517003"/>
            <a:ext cx="3198511" cy="3198511"/>
          </a:xfrm>
          <a:custGeom>
            <a:avLst/>
            <a:gdLst/>
            <a:ahLst/>
            <a:cxnLst/>
            <a:rect l="l" t="t" r="r" b="b"/>
            <a:pathLst>
              <a:path w="3198511" h="3198511">
                <a:moveTo>
                  <a:pt x="0" y="3198512"/>
                </a:moveTo>
                <a:lnTo>
                  <a:pt x="3198511" y="3198512"/>
                </a:lnTo>
                <a:lnTo>
                  <a:pt x="3198511" y="0"/>
                </a:lnTo>
                <a:lnTo>
                  <a:pt x="0" y="0"/>
                </a:lnTo>
                <a:lnTo>
                  <a:pt x="0" y="319851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1" name="Freeform 11"/>
          <p:cNvSpPr/>
          <p:nvPr/>
        </p:nvSpPr>
        <p:spPr>
          <a:xfrm rot="-5073096" flipV="1">
            <a:off x="-199246" y="-480141"/>
            <a:ext cx="2877180" cy="2877180"/>
          </a:xfrm>
          <a:custGeom>
            <a:avLst/>
            <a:gdLst/>
            <a:ahLst/>
            <a:cxnLst/>
            <a:rect l="l" t="t" r="r" b="b"/>
            <a:pathLst>
              <a:path w="2877180" h="2877180">
                <a:moveTo>
                  <a:pt x="0" y="2877180"/>
                </a:moveTo>
                <a:lnTo>
                  <a:pt x="2877180" y="2877180"/>
                </a:lnTo>
                <a:lnTo>
                  <a:pt x="2877180" y="0"/>
                </a:lnTo>
                <a:lnTo>
                  <a:pt x="0" y="0"/>
                </a:lnTo>
                <a:lnTo>
                  <a:pt x="0" y="287718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761689" flipV="1">
            <a:off x="6650053" y="4211470"/>
            <a:ext cx="3506881" cy="3506881"/>
          </a:xfrm>
          <a:custGeom>
            <a:avLst/>
            <a:gdLst/>
            <a:ahLst/>
            <a:cxnLst/>
            <a:rect l="l" t="t" r="r" b="b"/>
            <a:pathLst>
              <a:path w="3506881" h="3506881">
                <a:moveTo>
                  <a:pt x="0" y="3506882"/>
                </a:moveTo>
                <a:lnTo>
                  <a:pt x="3506882" y="3506882"/>
                </a:lnTo>
                <a:lnTo>
                  <a:pt x="3506882" y="0"/>
                </a:lnTo>
                <a:lnTo>
                  <a:pt x="0" y="0"/>
                </a:lnTo>
                <a:lnTo>
                  <a:pt x="0" y="350688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6211909" flipV="1">
            <a:off x="6784390" y="4723950"/>
            <a:ext cx="3238208" cy="3238208"/>
          </a:xfrm>
          <a:custGeom>
            <a:avLst/>
            <a:gdLst/>
            <a:ahLst/>
            <a:cxnLst/>
            <a:rect l="l" t="t" r="r" b="b"/>
            <a:pathLst>
              <a:path w="3238208" h="3238208">
                <a:moveTo>
                  <a:pt x="0" y="3238207"/>
                </a:moveTo>
                <a:lnTo>
                  <a:pt x="3238208" y="3238207"/>
                </a:lnTo>
                <a:lnTo>
                  <a:pt x="3238208" y="0"/>
                </a:lnTo>
                <a:lnTo>
                  <a:pt x="0" y="0"/>
                </a:lnTo>
                <a:lnTo>
                  <a:pt x="0" y="3238207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Freeform 14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491516"/>
            <a:ext cx="8791785" cy="1232745"/>
            <a:chOff x="0" y="0"/>
            <a:chExt cx="11722379" cy="16436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4"/>
            </a:xfrm>
            <a:custGeom>
              <a:avLst/>
              <a:gdLst/>
              <a:ahLst/>
              <a:cxnLst/>
              <a:rect l="l" t="t" r="r" b="b"/>
              <a:pathLst>
                <a:path w="11722382" h="1643664">
                  <a:moveTo>
                    <a:pt x="0" y="0"/>
                  </a:moveTo>
                  <a:lnTo>
                    <a:pt x="11722382" y="0"/>
                  </a:lnTo>
                  <a:lnTo>
                    <a:pt x="11722382" y="1643664"/>
                  </a:lnTo>
                  <a:lnTo>
                    <a:pt x="0" y="16436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4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95250"/>
              <a:ext cx="11722379" cy="173890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5631"/>
                </a:lnSpc>
              </a:pPr>
              <a:r>
                <a:rPr lang="en-US" sz="469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Structure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09031" y="1801102"/>
            <a:ext cx="8579224" cy="57434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554"/>
              </a:lnSpc>
            </a:pPr>
            <a:r>
              <a:rPr lang="en-US" sz="291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1. Current Process — </a:t>
            </a:r>
            <a:r>
              <a:rPr lang="en-US" sz="2919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manual labor</a:t>
            </a: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r>
              <a:rPr lang="en-US" sz="291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  Goal Process — </a:t>
            </a:r>
            <a:r>
              <a:rPr lang="en-US" sz="2919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BPMN and Architecture</a:t>
            </a: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r>
              <a:rPr lang="en-US" sz="291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3. Governance — </a:t>
            </a:r>
            <a:r>
              <a:rPr lang="en-US" sz="2919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Risk Management and Compliance</a:t>
            </a: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r>
              <a:rPr lang="en-US" sz="291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4. Conclusion — </a:t>
            </a:r>
            <a:r>
              <a:rPr lang="en-US" sz="2919" i="1">
                <a:solidFill>
                  <a:srgbClr val="3F3D3E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feasability report</a:t>
            </a: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  <a:p>
            <a:pPr algn="l">
              <a:lnSpc>
                <a:spcPts val="4554"/>
              </a:lnSpc>
            </a:pPr>
            <a:endParaRPr lang="en-US" sz="2919" i="1">
              <a:solidFill>
                <a:srgbClr val="3F3D3E"/>
              </a:solidFill>
              <a:latin typeface="Calibri (MS) Italics"/>
              <a:ea typeface="Calibri (MS) Italics"/>
              <a:cs typeface="Calibri (MS) Italics"/>
              <a:sym typeface="Calibri (MS) Italics"/>
            </a:endParaRPr>
          </a:p>
        </p:txBody>
      </p:sp>
      <p:sp>
        <p:nvSpPr>
          <p:cNvPr id="6" name="Freeform 6"/>
          <p:cNvSpPr/>
          <p:nvPr/>
        </p:nvSpPr>
        <p:spPr>
          <a:xfrm rot="-574333">
            <a:off x="-531559" y="350983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AutoShape 7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8" name="AutoShape 8"/>
          <p:cNvSpPr/>
          <p:nvPr/>
        </p:nvSpPr>
        <p:spPr>
          <a:xfrm>
            <a:off x="0" y="3979"/>
            <a:ext cx="9753600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22465" y="247728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4" y="0"/>
                </a:lnTo>
                <a:lnTo>
                  <a:pt x="1701634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40599" y="189781"/>
            <a:ext cx="7727211" cy="108347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71986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215"/>
                </a:lnSpc>
              </a:pPr>
              <a:r>
                <a:rPr lang="en-US" sz="35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1. Current Process </a:t>
              </a:r>
              <a:r>
                <a:rPr lang="en-US" sz="3513">
                  <a:solidFill>
                    <a:srgbClr val="3F3D3E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Manual labor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979169" y="1574862"/>
            <a:ext cx="8042911" cy="35337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1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Mail with reports→ ZIP-file → XML extraction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2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Spreadsheet import + threshold checks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3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Secure evidence + distribution mail with evidence</a:t>
            </a:r>
          </a:p>
          <a:p>
            <a:pPr marL="425908" lvl="1" indent="-212954" algn="l">
              <a:lnSpc>
                <a:spcPts val="3971"/>
              </a:lnSpc>
              <a:buFont typeface="Arial"/>
              <a:buChar char="•"/>
            </a:pPr>
            <a:r>
              <a:rPr lang="en-US" sz="330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 4</a:t>
            </a:r>
            <a:r>
              <a:rPr lang="en-US" sz="3309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: Sign-Off</a:t>
            </a:r>
          </a:p>
        </p:txBody>
      </p:sp>
      <p:sp>
        <p:nvSpPr>
          <p:cNvPr id="6" name="Freeform 6"/>
          <p:cNvSpPr/>
          <p:nvPr/>
        </p:nvSpPr>
        <p:spPr>
          <a:xfrm>
            <a:off x="7839992" y="286179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>
            <a:off x="6271133" y="4053643"/>
            <a:ext cx="2611317" cy="2611317"/>
          </a:xfrm>
          <a:custGeom>
            <a:avLst/>
            <a:gdLst/>
            <a:ahLst/>
            <a:cxnLst/>
            <a:rect l="l" t="t" r="r" b="b"/>
            <a:pathLst>
              <a:path w="2611317" h="2611317">
                <a:moveTo>
                  <a:pt x="0" y="0"/>
                </a:moveTo>
                <a:lnTo>
                  <a:pt x="2611317" y="0"/>
                </a:lnTo>
                <a:lnTo>
                  <a:pt x="2611317" y="2611317"/>
                </a:lnTo>
                <a:lnTo>
                  <a:pt x="0" y="261131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5400000">
            <a:off x="-649717" y="-2007004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8"/>
                </a:lnTo>
                <a:lnTo>
                  <a:pt x="0" y="561950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Freeform 9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0" name="AutoShape 10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Box 11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268077"/>
            <a:ext cx="6885236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2.1 BPMN GOAL— Rule Violation: YES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74816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2" y="0"/>
                </a:lnTo>
                <a:lnTo>
                  <a:pt x="3612672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pic>
        <p:nvPicPr>
          <p:cNvPr id="5" name="Picture 5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rcRect/>
          <a:stretch>
            <a:fillRect/>
          </a:stretch>
        </p:blipFill>
        <p:spPr>
          <a:xfrm>
            <a:off x="0" y="1508630"/>
            <a:ext cx="9753600" cy="4297940"/>
          </a:xfrm>
          <a:prstGeom prst="rect">
            <a:avLst/>
          </a:prstGeom>
        </p:spPr>
      </p:pic>
      <p:sp>
        <p:nvSpPr>
          <p:cNvPr id="6" name="TextBox 6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31445"/>
            <a:ext cx="6821537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2.2 BPMN GOAL— Rule Violation: NO</a:t>
            </a:r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video>
              <p:cMediaNode vol="100000">
                <p:cTn id="2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Box 5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62860" y="1527592"/>
            <a:ext cx="4332833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84"/>
              </a:lnSpc>
              <a:spcBef>
                <a:spcPct val="0"/>
              </a:spcBef>
            </a:pPr>
            <a:r>
              <a:rPr lang="en-US" sz="2903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Ingest → validate → archive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68754" y="268077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2.3 The Cost of Labor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462860" y="1965742"/>
            <a:ext cx="2956740" cy="4103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237"/>
              </a:lnSpc>
              <a:spcBef>
                <a:spcPct val="0"/>
              </a:spcBef>
            </a:pPr>
            <a:r>
              <a:rPr lang="en-US" sz="2697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Automated Labor</a:t>
            </a: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1911" y="3388491"/>
            <a:ext cx="7507243" cy="2377293"/>
          </a:xfrm>
          <a:prstGeom prst="rect">
            <a:avLst/>
          </a:prstGeom>
        </p:spPr>
      </p:pic>
      <p:sp>
        <p:nvSpPr>
          <p:cNvPr id="10" name="TextBox 10"/>
          <p:cNvSpPr txBox="1"/>
          <p:nvPr/>
        </p:nvSpPr>
        <p:spPr>
          <a:xfrm>
            <a:off x="1780890" y="5102081"/>
            <a:ext cx="5994819" cy="323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277"/>
              </a:lnSpc>
              <a:spcBef>
                <a:spcPct val="0"/>
              </a:spcBef>
            </a:pPr>
            <a:r>
              <a:rPr lang="en-US" sz="1897" i="1">
                <a:solidFill>
                  <a:srgbClr val="000000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AGILE development Project vs expected hourly rates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882406" y="4262106"/>
            <a:ext cx="3913287" cy="561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6"/>
              </a:lnSpc>
              <a:spcBef>
                <a:spcPct val="0"/>
              </a:spcBef>
            </a:pPr>
            <a:r>
              <a:rPr lang="en-US" sz="3280" i="1">
                <a:solidFill>
                  <a:srgbClr val="FFFFFF"/>
                </a:solidFill>
                <a:latin typeface="Calibri (MS) Italics"/>
                <a:ea typeface="Calibri (MS) Italics"/>
                <a:cs typeface="Calibri (MS) Italics"/>
                <a:sym typeface="Calibri (MS) Italics"/>
              </a:rPr>
              <a:t>Break Even after 1 year</a:t>
            </a:r>
          </a:p>
        </p:txBody>
      </p:sp>
      <p:sp>
        <p:nvSpPr>
          <p:cNvPr id="12" name="AutoShape 12"/>
          <p:cNvSpPr/>
          <p:nvPr/>
        </p:nvSpPr>
        <p:spPr>
          <a:xfrm>
            <a:off x="1687515" y="3545690"/>
            <a:ext cx="5994819" cy="0"/>
          </a:xfrm>
          <a:prstGeom prst="line">
            <a:avLst/>
          </a:prstGeom>
          <a:ln w="38100" cap="flat">
            <a:solidFill>
              <a:srgbClr val="545454"/>
            </a:solidFill>
            <a:prstDash val="solid"/>
            <a:headEnd type="none" w="sm" len="sm"/>
            <a:tailEnd type="triangle" w="lg" len="me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Box 13"/>
          <p:cNvSpPr txBox="1"/>
          <p:nvPr/>
        </p:nvSpPr>
        <p:spPr>
          <a:xfrm>
            <a:off x="1687515" y="2884588"/>
            <a:ext cx="5025182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51"/>
              </a:lnSpc>
              <a:spcBef>
                <a:spcPct val="0"/>
              </a:spcBef>
            </a:pPr>
            <a:r>
              <a:rPr lang="en-US" sz="345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Free Up valuable work time</a:t>
            </a: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Freeform 3"/>
          <p:cNvSpPr/>
          <p:nvPr/>
        </p:nvSpPr>
        <p:spPr>
          <a:xfrm rot="-1338411">
            <a:off x="-1037583" y="4061625"/>
            <a:ext cx="3612673" cy="5044109"/>
          </a:xfrm>
          <a:custGeom>
            <a:avLst/>
            <a:gdLst/>
            <a:ahLst/>
            <a:cxnLst/>
            <a:rect l="l" t="t" r="r" b="b"/>
            <a:pathLst>
              <a:path w="3612673" h="5044109">
                <a:moveTo>
                  <a:pt x="0" y="0"/>
                </a:moveTo>
                <a:lnTo>
                  <a:pt x="3612673" y="0"/>
                </a:lnTo>
                <a:lnTo>
                  <a:pt x="3612673" y="5044110"/>
                </a:lnTo>
                <a:lnTo>
                  <a:pt x="0" y="504411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4" name="AutoShape 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>
            <a:off x="768754" y="778934"/>
            <a:ext cx="6441975" cy="5886026"/>
          </a:xfrm>
          <a:custGeom>
            <a:avLst/>
            <a:gdLst/>
            <a:ahLst/>
            <a:cxnLst/>
            <a:rect l="l" t="t" r="r" b="b"/>
            <a:pathLst>
              <a:path w="6441975" h="5886026">
                <a:moveTo>
                  <a:pt x="0" y="0"/>
                </a:moveTo>
                <a:lnTo>
                  <a:pt x="6441974" y="0"/>
                </a:lnTo>
                <a:lnTo>
                  <a:pt x="6441974" y="5886026"/>
                </a:lnTo>
                <a:lnTo>
                  <a:pt x="0" y="58860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70" t="-2242" r="-7148" b="-7226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TextBox 6"/>
          <p:cNvSpPr txBox="1"/>
          <p:nvPr/>
        </p:nvSpPr>
        <p:spPr>
          <a:xfrm>
            <a:off x="8636905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1520" y="178859"/>
            <a:ext cx="7090454" cy="6000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51"/>
              </a:lnSpc>
            </a:pPr>
            <a:r>
              <a:rPr lang="en-US" sz="3459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2.4 System Architecture</a:t>
            </a: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480908" y="286179"/>
            <a:ext cx="8791785" cy="1350044"/>
            <a:chOff x="0" y="0"/>
            <a:chExt cx="11722379" cy="180005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800063"/>
            </a:xfrm>
            <a:custGeom>
              <a:avLst/>
              <a:gdLst/>
              <a:ahLst/>
              <a:cxnLst/>
              <a:rect l="l" t="t" r="r" b="b"/>
              <a:pathLst>
                <a:path w="11722382" h="1800063">
                  <a:moveTo>
                    <a:pt x="0" y="0"/>
                  </a:moveTo>
                  <a:lnTo>
                    <a:pt x="11722382" y="0"/>
                  </a:lnTo>
                  <a:lnTo>
                    <a:pt x="11722382" y="1800063"/>
                  </a:lnTo>
                  <a:lnTo>
                    <a:pt x="0" y="180006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1234" b="-72546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1722379" cy="187625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4575"/>
                </a:lnSpc>
              </a:pPr>
              <a:r>
                <a:rPr lang="en-US" sz="3813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3. Governance</a:t>
              </a:r>
            </a:p>
            <a:p>
              <a:pPr algn="ctr">
                <a:lnSpc>
                  <a:spcPts val="4575"/>
                </a:lnSpc>
              </a:pPr>
              <a:r>
                <a:rPr lang="en-US" sz="3813">
                  <a:solidFill>
                    <a:srgbClr val="3F3D3E"/>
                  </a:solidFill>
                  <a:latin typeface="Calibri (MS) Light"/>
                  <a:ea typeface="Calibri (MS) Light"/>
                  <a:cs typeface="Calibri (MS) Light"/>
                  <a:sym typeface="Calibri (MS) Light"/>
                </a:rPr>
                <a:t>Risk Management and Compliance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211480" y="5152773"/>
            <a:ext cx="8439966" cy="602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Leaving the happy path → not regarded in this project</a:t>
            </a:r>
          </a:p>
          <a:p>
            <a:pPr marL="239696" lvl="1" indent="-119848" algn="l">
              <a:lnSpc>
                <a:spcPts val="2235"/>
              </a:lnSpc>
              <a:buFont typeface="Arial"/>
              <a:buChar char="•"/>
            </a:pPr>
            <a:r>
              <a:rPr lang="en-US" sz="1862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The System needs to Exit consistently to prevent Archive gaps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925290" y="3193149"/>
            <a:ext cx="8541172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95"/>
              </a:lnSpc>
              <a:spcBef>
                <a:spcPct val="0"/>
              </a:spcBef>
            </a:pPr>
            <a:r>
              <a:rPr lang="en-US" sz="3413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Chance: Cleaner Compliance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878207" y="4570185"/>
            <a:ext cx="7812602" cy="5098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4095"/>
              </a:lnSpc>
              <a:spcBef>
                <a:spcPct val="0"/>
              </a:spcBef>
            </a:pPr>
            <a:r>
              <a:rPr lang="en-US" sz="3413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Risk: Alerts and Exception Handling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11480" y="3761836"/>
            <a:ext cx="8700345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1" lvl="1" indent="-123546" algn="l">
              <a:lnSpc>
                <a:spcPts val="2304"/>
              </a:lnSpc>
              <a:buFont typeface="Arial"/>
              <a:buChar char="•"/>
            </a:pPr>
            <a:r>
              <a:rPr lang="en-US" sz="1920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File convention friction = highest automation leverage - Better audibility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925290" y="1899387"/>
            <a:ext cx="7624175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92"/>
              </a:lnSpc>
            </a:pPr>
            <a:r>
              <a:rPr lang="en-US" sz="3243" b="1" u="none" strike="noStrike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Rule: Operator is responsible </a:t>
            </a:r>
          </a:p>
          <a:p>
            <a:pPr marL="0" lvl="0" indent="0" algn="l">
              <a:lnSpc>
                <a:spcPts val="3892"/>
              </a:lnSpc>
              <a:spcBef>
                <a:spcPct val="0"/>
              </a:spcBef>
            </a:pPr>
            <a:endParaRPr lang="en-US" sz="3243" b="1" u="none" strike="noStrike">
              <a:solidFill>
                <a:srgbClr val="3F3D3E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1211480" y="2417680"/>
            <a:ext cx="6214318" cy="3333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47090" lvl="1" indent="-123545" algn="l">
              <a:lnSpc>
                <a:spcPts val="2304"/>
              </a:lnSpc>
              <a:spcBef>
                <a:spcPct val="0"/>
              </a:spcBef>
              <a:buFont typeface="Arial"/>
              <a:buChar char="•"/>
            </a:pPr>
            <a:r>
              <a:rPr lang="en-US" sz="1920" u="none" strike="noStrike">
                <a:solidFill>
                  <a:srgbClr val="3F3D3E"/>
                </a:solidFill>
                <a:latin typeface="Calibri (MS)"/>
                <a:ea typeface="Calibri (MS)"/>
                <a:cs typeface="Calibri (MS)"/>
                <a:sym typeface="Calibri (MS)"/>
              </a:rPr>
              <a:t> Manual Process Remaining → sign-off not system-enforced </a:t>
            </a:r>
          </a:p>
        </p:txBody>
      </p:sp>
      <p:sp>
        <p:nvSpPr>
          <p:cNvPr id="11" name="Freeform 11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2" name="Freeform 12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3" name="Freeform 13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14" name="AutoShape 14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Box 15"/>
          <p:cNvSpPr txBox="1"/>
          <p:nvPr/>
        </p:nvSpPr>
        <p:spPr>
          <a:xfrm>
            <a:off x="8690809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092367" y="506308"/>
            <a:ext cx="8791785" cy="1232748"/>
            <a:chOff x="0" y="0"/>
            <a:chExt cx="11722379" cy="164366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1722382" cy="1643668"/>
            </a:xfrm>
            <a:custGeom>
              <a:avLst/>
              <a:gdLst/>
              <a:ahLst/>
              <a:cxnLst/>
              <a:rect l="l" t="t" r="r" b="b"/>
              <a:pathLst>
                <a:path w="11722382" h="1643668">
                  <a:moveTo>
                    <a:pt x="0" y="0"/>
                  </a:moveTo>
                  <a:lnTo>
                    <a:pt x="11722382" y="0"/>
                  </a:lnTo>
                  <a:lnTo>
                    <a:pt x="11722382" y="1643668"/>
                  </a:lnTo>
                  <a:lnTo>
                    <a:pt x="0" y="164366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8964" b="-88963"/>
              </a:stretch>
            </a:blipFill>
          </p:spPr>
          <p:txBody>
            <a:bodyPr/>
            <a:lstStyle/>
            <a:p>
              <a:endParaRPr lang="de-DE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85725"/>
              <a:ext cx="11722379" cy="172938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39"/>
                </a:lnSpc>
              </a:pPr>
              <a:r>
                <a:rPr lang="en-US" sz="4199" b="1">
                  <a:solidFill>
                    <a:srgbClr val="3F3D3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4. Conclusion</a:t>
              </a: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039701" y="1691430"/>
            <a:ext cx="8713899" cy="49815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83"/>
              </a:lnSpc>
            </a:pPr>
            <a:r>
              <a:rPr lang="en-US" sz="281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Can an Agile Development Project automate 30-40 mins of manual controlling operations?</a:t>
            </a:r>
          </a:p>
          <a:p>
            <a:pPr algn="l">
              <a:lnSpc>
                <a:spcPts val="2304"/>
              </a:lnSpc>
            </a:pPr>
            <a:endParaRPr lang="en-US" sz="2819" b="1">
              <a:solidFill>
                <a:srgbClr val="000000"/>
              </a:solidFill>
              <a:latin typeface="Calibri (MS) Bold"/>
              <a:ea typeface="Calibri (MS) Bold"/>
              <a:cs typeface="Calibri (MS) Bold"/>
              <a:sym typeface="Calibri (MS) Bold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Yes—Cooperation with all departments in SCOPE </a:t>
            </a:r>
          </a:p>
          <a:p>
            <a:pPr algn="l">
              <a:lnSpc>
                <a:spcPts val="2783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Yes — Critical Step remains manual (Sign-off)</a:t>
            </a:r>
          </a:p>
          <a:p>
            <a:pPr algn="l">
              <a:lnSpc>
                <a:spcPts val="2783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marL="500886" lvl="1" indent="-250443" algn="l">
              <a:lnSpc>
                <a:spcPts val="2783"/>
              </a:lnSpc>
              <a:buFont typeface="Arial"/>
              <a:buChar char="•"/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Critical — production LLM gateway</a:t>
            </a:r>
          </a:p>
          <a:p>
            <a:pPr algn="l">
              <a:lnSpc>
                <a:spcPts val="2783"/>
              </a:lnSpc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DMS access</a:t>
            </a:r>
          </a:p>
          <a:p>
            <a:pPr algn="l">
              <a:lnSpc>
                <a:spcPts val="2783"/>
              </a:lnSpc>
            </a:pPr>
            <a:r>
              <a:rPr lang="en-US" sz="23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                     — sandbox account (see compliance docs)</a:t>
            </a:r>
          </a:p>
          <a:p>
            <a:pPr algn="l">
              <a:lnSpc>
                <a:spcPts val="2304"/>
              </a:lnSpc>
            </a:pPr>
            <a:endParaRPr lang="en-US" sz="23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  <a:p>
            <a:pPr algn="l">
              <a:lnSpc>
                <a:spcPts val="2903"/>
              </a:lnSpc>
            </a:pPr>
            <a:r>
              <a:rPr lang="en-US" sz="2419" b="1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Success</a:t>
            </a:r>
            <a:r>
              <a:rPr lang="en-US" sz="241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: operable BPMN, invoice,XML generation, chart automation (OpenAPI integration mocks)</a:t>
            </a:r>
          </a:p>
          <a:p>
            <a:pPr algn="l">
              <a:lnSpc>
                <a:spcPts val="2304"/>
              </a:lnSpc>
            </a:pPr>
            <a:endParaRPr lang="en-US" sz="2419">
              <a:solidFill>
                <a:srgbClr val="000000"/>
              </a:solidFill>
              <a:latin typeface="Calibri (MS)"/>
              <a:ea typeface="Calibri (MS)"/>
              <a:cs typeface="Calibri (MS)"/>
              <a:sym typeface="Calibri (MS)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7" name="Freeform 7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8" name="Freeform 8"/>
          <p:cNvSpPr/>
          <p:nvPr/>
        </p:nvSpPr>
        <p:spPr>
          <a:xfrm rot="-574333">
            <a:off x="-753323" y="3892994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9" name="AutoShape 9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Box 10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CEC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041929" y="2812139"/>
            <a:ext cx="4436573" cy="3588515"/>
          </a:xfrm>
          <a:custGeom>
            <a:avLst/>
            <a:gdLst/>
            <a:ahLst/>
            <a:cxnLst/>
            <a:rect l="l" t="t" r="r" b="b"/>
            <a:pathLst>
              <a:path w="4436573" h="3588515">
                <a:moveTo>
                  <a:pt x="0" y="0"/>
                </a:moveTo>
                <a:lnTo>
                  <a:pt x="4436573" y="0"/>
                </a:lnTo>
                <a:lnTo>
                  <a:pt x="4436573" y="3588515"/>
                </a:lnTo>
                <a:lnTo>
                  <a:pt x="0" y="358851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259" b="-20372"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3" name="TextBox 3"/>
          <p:cNvSpPr txBox="1"/>
          <p:nvPr/>
        </p:nvSpPr>
        <p:spPr>
          <a:xfrm>
            <a:off x="1959873" y="1490378"/>
            <a:ext cx="7103418" cy="990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57"/>
              </a:lnSpc>
              <a:spcBef>
                <a:spcPct val="0"/>
              </a:spcBef>
            </a:pPr>
            <a:r>
              <a:rPr lang="en-US" sz="5714" b="1">
                <a:solidFill>
                  <a:srgbClr val="3F3D3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 for listening!</a:t>
            </a:r>
          </a:p>
        </p:txBody>
      </p:sp>
      <p:sp>
        <p:nvSpPr>
          <p:cNvPr id="4" name="Freeform 4"/>
          <p:cNvSpPr/>
          <p:nvPr/>
        </p:nvSpPr>
        <p:spPr>
          <a:xfrm rot="5400000">
            <a:off x="-722627" y="-1434227"/>
            <a:ext cx="4024782" cy="5619507"/>
          </a:xfrm>
          <a:custGeom>
            <a:avLst/>
            <a:gdLst/>
            <a:ahLst/>
            <a:cxnLst/>
            <a:rect l="l" t="t" r="r" b="b"/>
            <a:pathLst>
              <a:path w="4024782" h="5619507">
                <a:moveTo>
                  <a:pt x="0" y="0"/>
                </a:moveTo>
                <a:lnTo>
                  <a:pt x="4024782" y="0"/>
                </a:lnTo>
                <a:lnTo>
                  <a:pt x="4024782" y="5619507"/>
                </a:lnTo>
                <a:lnTo>
                  <a:pt x="0" y="5619507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5" name="Freeform 5"/>
          <p:cNvSpPr/>
          <p:nvPr/>
        </p:nvSpPr>
        <p:spPr>
          <a:xfrm rot="-574333">
            <a:off x="-420522" y="3517293"/>
            <a:ext cx="3854226" cy="5381372"/>
          </a:xfrm>
          <a:custGeom>
            <a:avLst/>
            <a:gdLst/>
            <a:ahLst/>
            <a:cxnLst/>
            <a:rect l="l" t="t" r="r" b="b"/>
            <a:pathLst>
              <a:path w="3854226" h="5381372">
                <a:moveTo>
                  <a:pt x="0" y="0"/>
                </a:moveTo>
                <a:lnTo>
                  <a:pt x="3854226" y="0"/>
                </a:lnTo>
                <a:lnTo>
                  <a:pt x="3854226" y="5381372"/>
                </a:lnTo>
                <a:lnTo>
                  <a:pt x="0" y="538137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  <p:sp>
        <p:nvSpPr>
          <p:cNvPr id="6" name="AutoShape 6"/>
          <p:cNvSpPr/>
          <p:nvPr/>
        </p:nvSpPr>
        <p:spPr>
          <a:xfrm>
            <a:off x="3041929" y="6864745"/>
            <a:ext cx="584052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Box 7"/>
          <p:cNvSpPr txBox="1"/>
          <p:nvPr/>
        </p:nvSpPr>
        <p:spPr>
          <a:xfrm>
            <a:off x="8566190" y="6617335"/>
            <a:ext cx="1271574" cy="4471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01"/>
              </a:lnSpc>
              <a:spcBef>
                <a:spcPct val="0"/>
              </a:spcBef>
            </a:pPr>
            <a:r>
              <a:rPr lang="en-US" sz="26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8" name="Freeform 8"/>
          <p:cNvSpPr/>
          <p:nvPr/>
        </p:nvSpPr>
        <p:spPr>
          <a:xfrm>
            <a:off x="7839992" y="165841"/>
            <a:ext cx="1701635" cy="702311"/>
          </a:xfrm>
          <a:custGeom>
            <a:avLst/>
            <a:gdLst/>
            <a:ahLst/>
            <a:cxnLst/>
            <a:rect l="l" t="t" r="r" b="b"/>
            <a:pathLst>
              <a:path w="1701635" h="702311">
                <a:moveTo>
                  <a:pt x="0" y="0"/>
                </a:moveTo>
                <a:lnTo>
                  <a:pt x="1701635" y="0"/>
                </a:lnTo>
                <a:lnTo>
                  <a:pt x="1701635" y="702311"/>
                </a:lnTo>
                <a:lnTo>
                  <a:pt x="0" y="70231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</Words>
  <Application>Microsoft Macintosh PowerPoint</Application>
  <PresentationFormat>Benutzerdefiniert</PresentationFormat>
  <Paragraphs>61</Paragraphs>
  <Slides>11</Slides>
  <Notes>0</Notes>
  <HiddenSlides>0</HiddenSlides>
  <MMClips>2</MMClips>
  <ScaleCrop>false</ScaleCrop>
  <HeadingPairs>
    <vt:vector size="6" baseType="variant">
      <vt:variant>
        <vt:lpstr>Verwendete Schriftarten</vt:lpstr>
      </vt:variant>
      <vt:variant>
        <vt:i4>8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20" baseType="lpstr">
      <vt:lpstr>Calibri</vt:lpstr>
      <vt:lpstr>Calibri (MS) Bold</vt:lpstr>
      <vt:lpstr>Calibri (MS) Italics</vt:lpstr>
      <vt:lpstr>Garet Bold</vt:lpstr>
      <vt:lpstr>Garet</vt:lpstr>
      <vt:lpstr>Calibri (MS)</vt:lpstr>
      <vt:lpstr>Arial</vt:lpstr>
      <vt:lpstr>Calibri (MS) Light</vt:lpstr>
      <vt:lpstr>Office Theme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praesi ai 2906.pptx</dc:title>
  <cp:lastModifiedBy>Altay Hennig</cp:lastModifiedBy>
  <cp:revision>2</cp:revision>
  <dcterms:created xsi:type="dcterms:W3CDTF">2006-08-16T00:00:00Z</dcterms:created>
  <dcterms:modified xsi:type="dcterms:W3CDTF">2026-06-29T08:51:51Z</dcterms:modified>
  <dc:identifier>DAHN4TWAh5g</dc:identifier>
</cp:coreProperties>
</file>