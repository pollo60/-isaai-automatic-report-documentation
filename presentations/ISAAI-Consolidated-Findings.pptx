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ISAAI — Consolidated Validation Findings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Automated analysis of 30 daily report validation runs</a:t>
            </a:r>
          </a:p>
          <a:p>
            <a:r>
              <a:t>Generated on 2026-06-29 10:17:28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5B"/>
                </a:solidFill>
              </a:defRPr>
            </a:pPr>
            <a:r>
              <a:t>Validation Run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>
                <a:solidFill>
                  <a:srgbClr val="00335B"/>
                </a:solidFill>
              </a:defRPr>
            </a:pPr>
            <a:r>
              <a:t>Total Runs Analyzed: 30</a:t>
            </a:r>
          </a:p>
          <a:p>
            <a:pPr>
              <a:defRPr sz="1800" b="0"/>
            </a:pPr>
          </a:p>
          <a:p>
            <a:pPr>
              <a:defRPr sz="1800" b="0">
                <a:solidFill>
                  <a:srgbClr val="2E7D32"/>
                </a:solidFill>
              </a:defRPr>
            </a:pPr>
            <a:r>
              <a:t>• Completed (no violations): 20 (66.7%)</a:t>
            </a:r>
          </a:p>
          <a:p>
            <a:pPr>
              <a:defRPr sz="1800" b="1">
                <a:solidFill>
                  <a:srgbClr val="D9383A"/>
                </a:solidFill>
              </a:defRPr>
            </a:pPr>
            <a:r>
              <a:t>• Exception (escalation required): 10 (33.3%)</a:t>
            </a:r>
          </a:p>
          <a:p>
            <a:pPr>
              <a:defRPr sz="1800" b="0"/>
            </a:pPr>
          </a:p>
          <a:p>
            <a:pPr>
              <a:defRPr sz="1800" b="1">
                <a:solidFill>
                  <a:srgbClr val="00508F"/>
                </a:solidFill>
              </a:defRPr>
            </a:pPr>
            <a:r>
              <a:t>Report A (Daily — DayViol):</a:t>
            </a:r>
          </a:p>
          <a:p>
            <a:pPr>
              <a:defRPr sz="1800" b="0">
                <a:solidFill>
                  <a:srgbClr val="666666"/>
                </a:solidFill>
              </a:defRPr>
            </a:pPr>
            <a:r>
              <a:t>  • Pass: 21  |  Violation: 9</a:t>
            </a:r>
          </a:p>
          <a:p>
            <a:pPr>
              <a:defRPr sz="1800" b="1">
                <a:solidFill>
                  <a:srgbClr val="00508F"/>
                </a:solidFill>
              </a:defRPr>
            </a:pPr>
            <a:r>
              <a:t>Report B (Monthly — MonthViol):</a:t>
            </a:r>
          </a:p>
          <a:p>
            <a:pPr>
              <a:defRPr sz="1800" b="0">
                <a:solidFill>
                  <a:srgbClr val="666666"/>
                </a:solidFill>
              </a:defRPr>
            </a:pPr>
            <a:r>
              <a:t>  • Pass: 26  |  Violation: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335B"/>
                </a:solidFill>
              </a:defRPr>
            </a:pPr>
            <a:r>
              <a:t>Validation Run Ledger (15 most recent)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188720"/>
          <a:ext cx="859536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280160"/>
                <a:gridCol w="1645920"/>
                <a:gridCol w="1645920"/>
                <a:gridCol w="1645920"/>
                <a:gridCol w="1645920"/>
              </a:tblGrid>
              <a:tr h="2857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Run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Report Date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Report A</a:t>
                      </a:r>
                    </a:p>
                    <a:p>
                      <a:r>
                        <a:t>(DayViol)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Report B</a:t>
                      </a:r>
                    </a:p>
                    <a:p>
                      <a:r>
                        <a:t>(MonthViol)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Overall Status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Exception</a:t>
                      </a:r>
                    </a:p>
                    <a:p>
                      <a:r>
                        <a:t>Flag</a:t>
                      </a:r>
                    </a:p>
                  </a:txBody>
                  <a:tcPr>
                    <a:solidFill>
                      <a:srgbClr val="00335B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Completed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85750"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/>
                      </a:pPr>
                      <a:r>
                        <a:t>20260607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Violation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2E7D32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Exception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D9383A"/>
                          </a:solidFill>
                        </a:defRPr>
                      </a:pPr>
                      <a:r>
                        <a:t>Yes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D9383A"/>
                </a:solidFill>
              </a:defRPr>
            </a:pPr>
            <a:r>
              <a:t>Exception Deep-Dive (10 runs)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 b="1">
                <a:solidFill>
                  <a:srgbClr val="D9383A"/>
                </a:solidFill>
              </a:defRPr>
            </a:pPr>
            <a:r>
              <a:t>Run 1 (20260530):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A (DayViol=V):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Threshold2: 16 (limit: 50)</a:t>
            </a:r>
          </a:p>
          <a:p>
            <a:pPr>
              <a:defRPr sz="1400">
                <a:solidFill>
                  <a:srgbClr val="2E7D32"/>
                </a:solidFill>
              </a:defRPr>
            </a:pPr>
            <a:r>
              <a:t>  Report B (MonthViol=N): Pass</a:t>
            </a:r>
          </a:p>
          <a:p>
            <a:pPr>
              <a:defRPr sz="1600" b="1">
                <a:solidFill>
                  <a:srgbClr val="D9383A"/>
                </a:solidFill>
              </a:defRPr>
            </a:pPr>
            <a:r>
              <a:t>Run 12 (20260610):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A (DayViol=V):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Threshold4: 20 (limit: 50)</a:t>
            </a:r>
          </a:p>
          <a:p>
            <a:pPr>
              <a:defRPr sz="1400">
                <a:solidFill>
                  <a:srgbClr val="2E7D32"/>
                </a:solidFill>
              </a:defRPr>
            </a:pPr>
            <a:r>
              <a:t>  Report B (MonthViol=N): Pass</a:t>
            </a:r>
          </a:p>
          <a:p>
            <a:pPr>
              <a:defRPr sz="1600" b="1">
                <a:solidFill>
                  <a:srgbClr val="D9383A"/>
                </a:solidFill>
              </a:defRPr>
            </a:pPr>
            <a:r>
              <a:t>Run 14 (20260612):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A (DayViol=V):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Threshold1: 33 (limit: 50)</a:t>
            </a:r>
          </a:p>
          <a:p>
            <a:pPr>
              <a:defRPr sz="1400">
                <a:solidFill>
                  <a:srgbClr val="2E7D32"/>
                </a:solidFill>
              </a:defRPr>
            </a:pPr>
            <a:r>
              <a:t>  Report B (MonthViol=V): Pass</a:t>
            </a:r>
          </a:p>
          <a:p>
            <a:pPr>
              <a:defRPr sz="1600" b="1">
                <a:solidFill>
                  <a:srgbClr val="D9383A"/>
                </a:solidFill>
              </a:defRPr>
            </a:pPr>
            <a:r>
              <a:t>Run 21 (20260619):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A (DayViol=V):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Threshold3: 16 (limit: 50)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B (MonthViol=V):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Threshold2: 37 (limit: 50)</a:t>
            </a:r>
          </a:p>
          <a:p>
            <a:pPr>
              <a:defRPr sz="1600" b="1">
                <a:solidFill>
                  <a:srgbClr val="D9383A"/>
                </a:solidFill>
              </a:defRPr>
            </a:pPr>
            <a:r>
              <a:t>Run 23 (20260621):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A (DayViol=V):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Threshold4: 13 (limit: 50)</a:t>
            </a:r>
          </a:p>
          <a:p>
            <a:pPr>
              <a:defRPr sz="1400">
                <a:solidFill>
                  <a:srgbClr val="2E7D32"/>
                </a:solidFill>
              </a:defRPr>
            </a:pPr>
            <a:r>
              <a:t>  Report B (MonthViol=N): Pass</a:t>
            </a:r>
          </a:p>
          <a:p>
            <a:pPr>
              <a:defRPr sz="1600" b="1">
                <a:solidFill>
                  <a:srgbClr val="D9383A"/>
                </a:solidFill>
              </a:defRPr>
            </a:pPr>
            <a:r>
              <a:t>Run 25 (20260623):</a:t>
            </a:r>
          </a:p>
          <a:p>
            <a:pPr>
              <a:defRPr sz="1400">
                <a:solidFill>
                  <a:srgbClr val="2E7D32"/>
                </a:solidFill>
              </a:defRPr>
            </a:pPr>
            <a:r>
              <a:t>  Report A (DayViol=N): Pass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B (MonthViol=V):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Threshold1: 21 (limit: 50)</a:t>
            </a:r>
          </a:p>
          <a:p>
            <a:pPr>
              <a:defRPr sz="1600" b="1">
                <a:solidFill>
                  <a:srgbClr val="D9383A"/>
                </a:solidFill>
              </a:defRPr>
            </a:pPr>
            <a:r>
              <a:t>Run 6 (20260604):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A (DayViol=V):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Threshold4: 33 (limit: 50)</a:t>
            </a:r>
          </a:p>
          <a:p>
            <a:pPr>
              <a:defRPr sz="1400">
                <a:solidFill>
                  <a:srgbClr val="2E7D32"/>
                </a:solidFill>
              </a:defRPr>
            </a:pPr>
            <a:r>
              <a:t>  Report B (MonthViol=N): Pass</a:t>
            </a:r>
          </a:p>
          <a:p>
            <a:pPr>
              <a:defRPr sz="1600" b="1">
                <a:solidFill>
                  <a:srgbClr val="D9383A"/>
                </a:solidFill>
              </a:defRPr>
            </a:pPr>
            <a:r>
              <a:t>Run 7 (20260605):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A (DayViol=V):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Threshold2: 20 (limit: 50)</a:t>
            </a:r>
          </a:p>
          <a:p>
            <a:pPr>
              <a:defRPr sz="1400">
                <a:solidFill>
                  <a:srgbClr val="D9383A"/>
                </a:solidFill>
              </a:defRPr>
            </a:pPr>
            <a:r>
              <a:t>  Report B (MonthViol=V): Violation</a:t>
            </a:r>
          </a:p>
          <a:p>
            <a:pPr>
              <a:defRPr sz="1200">
                <a:solidFill>
                  <a:srgbClr val="D9383A"/>
                </a:solidFill>
              </a:defRPr>
            </a:pPr>
            <a:r>
              <a:t>    ⚠ Threshold2: 30 (limit: 50)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5B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666666"/>
                </a:solidFill>
              </a:defRPr>
            </a:pPr>
            <a:r>
              <a:t>Total validation runs analyzed: 30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Successful completions: 20 (66.7%)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Escalations triggered: 10 (33.3%)</a:t>
            </a:r>
          </a:p>
          <a:p>
            <a:pPr>
              <a:defRPr sz="1600">
                <a:solidFill>
                  <a:srgbClr val="666666"/>
                </a:solidFill>
              </a:defRPr>
            </a:pP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The automated validation engine correctly identifies: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  • DayViol / MonthViol markers in XML reports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  • Threshold breaches below the configured limit (50)</a:t>
            </a: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  • Exception cases requiring supervisor review</a:t>
            </a:r>
          </a:p>
          <a:p>
            <a:pPr>
              <a:defRPr sz="1600">
                <a:solidFill>
                  <a:srgbClr val="666666"/>
                </a:solidFill>
              </a:defRPr>
            </a:pPr>
          </a:p>
          <a:p>
            <a:pPr>
              <a:defRPr sz="1600">
                <a:solidFill>
                  <a:srgbClr val="666666"/>
                </a:solidFill>
              </a:defRPr>
            </a:pPr>
            <a:r>
              <a:t>Evidence files (XLSX) are generated for each report and stored in SharePoint.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