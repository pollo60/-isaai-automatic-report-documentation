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5B"/>
                </a:solidFill>
              </a:defRPr>
            </a:pPr>
            <a:r>
              <a:t>ISAAI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Dual-module automation program</a:t>
            </a:r>
          </a:p>
          <a:p>
            <a:r>
              <a:t>ISA · Architecture &amp;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5B"/>
                </a:solidFill>
              </a:defRPr>
            </a:pPr>
            <a:r>
              <a:t>Can we eliminate 30–40 minutes of daily manual report work—and still strengthen auditability and control?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508F"/>
                </a:solidFill>
              </a:defRPr>
            </a:pPr>
            <a:r>
              <a:t>Pause. Do not answer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5B"/>
                </a:solidFill>
              </a:defRPr>
            </a:pPr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30–40 minutes daily manual effort on structured XML reports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Error risk: import, wrong field/version, inconsistent outputs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Archive gap when steps are skipped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5B"/>
                </a:solidFill>
              </a:defRPr>
            </a:pPr>
            <a:r>
              <a:t>Manual labor today (IST)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Phase 1: Mail → ZIP → XML extraction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Phase 2: Spreadsheet import and threshold checks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Phase 3: Evidence + distribution mail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Phase 4: Document repository sign-off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5B"/>
                </a:solidFill>
              </a:defRPr>
            </a:pPr>
            <a:r>
              <a:t>Risk &amp; control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Media break: collaboration storage vs. document repository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Upload → sign-off not system-enforced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Naming convention friction = highest automation leverage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5B"/>
                </a:solidFill>
              </a:defRPr>
            </a:pPr>
            <a:r>
              <a:t>Automation vision (SOLL)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Automated ingest, rule engine, exception queue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Supervisor only on exceptions (human-in-the-loop)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Standardized audit trail per event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5B"/>
                </a:solidFill>
              </a:defRPr>
            </a:pPr>
            <a:r>
              <a:t>BPMN GOAL — automated main flow</a:t>
            </a:r>
          </a:p>
        </p:txBody>
      </p:sp>
      <p:pic>
        <p:nvPicPr>
          <p:cNvPr id="3" name="Picture 2" descr="daily_financial_report_validation_lanes_OPERATIVE GO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3894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Ingest → validate → archive; automation lanes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5B"/>
                </a:solidFill>
              </a:defRPr>
            </a:pPr>
            <a:r>
              <a:t>BPMN GOAL — exception governance</a:t>
            </a:r>
          </a:p>
        </p:txBody>
      </p:sp>
      <p:pic>
        <p:nvPicPr>
          <p:cNvPr id="3" name="Picture 2" descr="GOAL - Governance, Data and 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3958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Exception path and audit-trail goal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5B"/>
                </a:solidFill>
              </a:defRPr>
            </a:pPr>
            <a:r>
              <a:t>How ISA shapes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Enterprise alignment via ArchiMate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Exchange invoice: PDF/OCR → JSON/CSV → charts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Delivers presentation-ready visual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5B"/>
                </a:solidFill>
              </a:defRPr>
            </a:pPr>
            <a:r>
              <a:t>How A+I shapes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Operable BPMN and XML/GOAL validation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Integration architecture and white-box APIs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SharePoint/DMS mocks for archival simulation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5B"/>
                </a:solidFill>
              </a:defRPr>
            </a:pPr>
            <a:r>
              <a:t>ISA vs A+I — influence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ISA: structure, alignment, invoice track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A+I: process operability, financial report track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Shared repo; separate branches and acceptance criteria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5B"/>
                </a:solidFill>
              </a:defRPr>
            </a:pPr>
            <a:r>
              <a:t>Architecture IST → GOAL</a:t>
            </a:r>
          </a:p>
        </p:txBody>
      </p:sp>
      <p:pic>
        <p:nvPicPr>
          <p:cNvPr id="3" name="Picture 2" descr="GOAL - Automated Main 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215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5B"/>
                </a:solidFill>
              </a:defRPr>
            </a:pPr>
            <a:r>
              <a:t>Compliance &amp; audit trail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Event model: who, when, action, source hash, approval state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Pseudonymize before internal LLM (project default)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OpenAPI v3 mocks document intended interfaces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5B"/>
                </a:solidFill>
              </a:defRPr>
            </a:pPr>
            <a:r>
              <a:t>Roadmap to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M2 ISA module · M3 A+I module · M4 integration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M5: models, docs, boardroom deck</a:t>
            </a:r>
          </a:p>
          <a:p>
            <a:pPr>
              <a:defRPr sz="1800">
                <a:solidFill>
                  <a:srgbClr val="666666"/>
                </a:solidFill>
              </a:defRPr>
            </a:pPr>
            <a:r>
              <a:t>Target: 16 June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5B"/>
                </a:solidFill>
              </a:defRPr>
            </a:pPr>
            <a:r>
              <a:t>The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i="1">
                <a:solidFill>
                  <a:srgbClr val="00508F"/>
                </a:solidFill>
              </a:defRPr>
            </a:pPr>
            <a:r>
              <a:t>Can we eliminate 30–40 minutes of daily manual report work—and still strengthen auditability and control?</a:t>
            </a:r>
          </a:p>
          <a:p>
            <a:pPr>
              <a:defRPr sz="1700">
                <a:solidFill>
                  <a:srgbClr val="666666"/>
                </a:solidFill>
              </a:defRPr>
            </a:pPr>
            <a:r>
              <a:t>Yes—with scope discipline: automate ingest → validate → archive; humans only for exception governance.</a:t>
            </a:r>
          </a:p>
          <a:p>
            <a:pPr>
              <a:defRPr sz="1700">
                <a:solidFill>
                  <a:srgbClr val="666666"/>
                </a:solidFill>
              </a:defRPr>
            </a:pPr>
            <a:r>
              <a:t>ISA: enterprise ArchiMate alignment, invoice PDF/OCR, chart automation.</a:t>
            </a:r>
          </a:p>
          <a:p>
            <a:pPr>
              <a:defRPr sz="1700">
                <a:solidFill>
                  <a:srgbClr val="666666"/>
                </a:solidFill>
              </a:defRPr>
            </a:pPr>
            <a:r>
              <a:t>A+I: operable BPMN, XML/GOAL validation, OpenAPI integration mocks.</a:t>
            </a:r>
          </a:p>
          <a:p>
            <a:pPr>
              <a:defRPr sz="1700">
                <a:solidFill>
                  <a:srgbClr val="666666"/>
                </a:solidFill>
              </a:defRPr>
            </a:pPr>
            <a:r>
              <a:t>Open: production LLM gateway, DMS access, sandbox account (see compliance docs).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